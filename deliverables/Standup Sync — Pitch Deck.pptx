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Don. This is Standup Sync. It writes your standup, your Slack update and your client email from what actually changed in the code, not from commit messages. Built for the IBM Bob 2.0 Hackathon, and it's live at standup-sync.onrender.com.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week in a lot of repos. "fix stuff", "wip", a revert, "formatting". None of it says what was delivered. So before every standup or update, developers dig through diffs and branches to reconstruct their week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costs. It's slow: you read diffs across branches just to remember. It's error-prone: feature-branch work gets forgotten, while reverts and formatting show up as "progress". And it's repeated: the same week gets rewritten for the team, for Slack, and again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Standup Sync turns that into three steps: paste a repo, pick a range, press sync. You get Slack, Email and Standup versions, each in a developer version with file and function names, and a client version in plain English. Six ready-to-post updates, with strict length limits so they stay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built to feel like VS Code, where developers already live. Here it's mid-run on this project's own repo: the tracker shows each step, the output log shows what's happening, and the raw git log appears within seconds, tagged by branch. Then the updates arrive, with a developer and client toggle and one-click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five steps, and only two use the LLM. We pull commits from every branch, filter out the noise in plain code, then the model reads each diff, writes one line, and tags it major or minor. Only major updates become highlights, and the model writes the final formats with hard limits enforced in code. A typical run costs a few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different from a changelog bot? Those list commit messages as written, count every commit including reverts, usually look at one branch, and write one technical format. We read the diffs, report accomplishments only, cover every branch, and write for your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built the first working version in three sessions on September 26. First, it read our AGENTS.md and planning docs, searched IBM's docs to set up watsonx.ai, and scaffolded the whole pipeline. Second, it diagnosed slow clones and costs. Third, it used an explore subagent and its planning skill, then Agent mode, to add developer stats, the client tone, private repos and the date presets. All session exports are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sure it holds up on real code. A hundred and two automated tests, including clones of real public repos, found and fixed eight bugs, like date ranges that dropped late commits and LLM summaries that were cut off. On microsoft/vscode, with over five thousand branches, pulling a week of commits went from 807 seconds to 143. And it's safe to host: tokens are never stored, and the public server won't read local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rebuilding your week from git log. Try it now at standup-sync.onrender.com, and everything, including the Bob session exports, is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18059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JetBrains Mono" pitchFamily="34" charset="0"/>
                <a:ea typeface="JetBrains Mono" pitchFamily="34" charset="-122"/>
                <a:cs typeface="JetBrains Mono" pitchFamily="34" charset="-120"/>
              </a:rPr>
              <a:t>IBM Bob 2.0 Hackathon · Sept 2026</a:t>
            </a:r>
            <a:endParaRPr lang="en-US" sz="1200" dirty="0"/>
          </a:p>
        </p:txBody>
      </p:sp>
      <p:sp>
        <p:nvSpPr>
          <p:cNvPr id="3" name="Text 1"/>
          <p:cNvSpPr/>
          <p:nvPr/>
        </p:nvSpPr>
        <p:spPr>
          <a:xfrm>
            <a:off x="812800" y="2222500"/>
            <a:ext cx="5886450"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8F8F2"/>
                </a:solidFill>
                <a:latin typeface="JetBrains Mono" pitchFamily="34" charset="0"/>
                <a:ea typeface="JetBrains Mono" pitchFamily="34" charset="-122"/>
                <a:cs typeface="JetBrains Mono" pitchFamily="34" charset="-120"/>
              </a:rPr>
              <a:t>Standup Sync</a:t>
            </a:r>
            <a:endParaRPr lang="en-US" sz="5600" dirty="0"/>
          </a:p>
        </p:txBody>
      </p:sp>
      <p:sp>
        <p:nvSpPr>
          <p:cNvPr id="4" name="Text 2"/>
          <p:cNvSpPr/>
          <p:nvPr/>
        </p:nvSpPr>
        <p:spPr>
          <a:xfrm>
            <a:off x="812800" y="3172460"/>
            <a:ext cx="5886450" cy="695960"/>
          </a:xfrm>
          <a:prstGeom prst="rect">
            <a:avLst/>
          </a:prstGeom>
          <a:noFill/>
          <a:ln/>
        </p:spPr>
        <p:txBody>
          <a:bodyPr wrap="square" lIns="0" tIns="0" rIns="0" bIns="0" rtlCol="0" anchor="t">
            <a:normAutofit/>
          </a:bodyPr>
          <a:lstStyle/>
          <a:p>
            <a:pPr algn="l" indent="0" marL="0">
              <a:lnSpc>
                <a:spcPts val="2640"/>
              </a:lnSpc>
              <a:buNone/>
            </a:pPr>
            <a:r>
              <a:rPr lang="en-US" sz="2200" b="1" dirty="0">
                <a:gradFill rotWithShape="1">
                  <a:gsLst>
                    <a:gs pos="0">
                      <a:srgbClr val="F92672"/>
                    </a:gs>
                    <a:gs pos="100000">
                      <a:srgbClr val="FD971F"/>
                    </a:gs>
                  </a:gsLst>
                  <a:lin ang="0" scaled="0"/>
                </a:gradFill>
                <a:latin typeface="JetBrains Mono" pitchFamily="34" charset="0"/>
                <a:ea typeface="JetBrains Mono" pitchFamily="34" charset="-122"/>
                <a:cs typeface="JetBrains Mono" pitchFamily="34" charset="-120"/>
              </a:rPr>
              <a:t>Your standup, written from the code.</a:t>
            </a:r>
            <a:endParaRPr lang="en-US" sz="2200" dirty="0"/>
          </a:p>
        </p:txBody>
      </p:sp>
      <p:sp>
        <p:nvSpPr>
          <p:cNvPr id="5" name="Text 3"/>
          <p:cNvSpPr/>
          <p:nvPr/>
        </p:nvSpPr>
        <p:spPr>
          <a:xfrm>
            <a:off x="812800" y="4046220"/>
            <a:ext cx="588645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FCFC2"/>
                </a:solidFill>
                <a:latin typeface="IBM Plex Sans" pitchFamily="34" charset="0"/>
                <a:ea typeface="IBM Plex Sans" pitchFamily="34" charset="-122"/>
                <a:cs typeface="IBM Plex Sans" pitchFamily="34" charset="-120"/>
              </a:rPr>
              <a:t>Reads the actual code changes in a git repo and writes Slack, Email and Standup updates for developers and for clients.</a:t>
            </a:r>
            <a:endParaRPr lang="en-US" sz="1600" dirty="0"/>
          </a:p>
        </p:txBody>
      </p:sp>
      <p:sp>
        <p:nvSpPr>
          <p:cNvPr id="6" name="Text 4"/>
          <p:cNvSpPr/>
          <p:nvPr/>
        </p:nvSpPr>
        <p:spPr>
          <a:xfrm>
            <a:off x="812800" y="48387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JetBrains Mono" pitchFamily="34" charset="0"/>
                <a:ea typeface="JetBrains Mono" pitchFamily="34" charset="-122"/>
                <a:cs typeface="JetBrains Mono" pitchFamily="34" charset="-120"/>
              </a:rPr>
              <a:t>standup-sync.onrender.com</a:t>
            </a:r>
            <a:endParaRPr lang="en-US" sz="1200" dirty="0"/>
          </a:p>
        </p:txBody>
      </p:sp>
      <p:pic>
        <p:nvPicPr>
          <p:cNvPr id="7" name="Image 0" descr="Standup Sync landing page: a VS Code–style window with the headline 'Your standup, written from the code.' and a mini editor turning git log lines into a Slack update">    </p:cNvPr>
          <p:cNvPicPr>
            <a:picLocks noChangeAspect="1"/>
          </p:cNvPicPr>
          <p:nvPr/>
        </p:nvPicPr>
        <p:blipFill>
          <a:blip r:embed="rId1"/>
          <a:srcRect l="-115" r="-115" t="0" b="0"/>
          <a:stretch/>
        </p:blipFill>
        <p:spPr>
          <a:xfrm>
            <a:off x="6946900" y="2051050"/>
            <a:ext cx="4419600" cy="2755900"/>
          </a:xfrm>
          <a:prstGeom prst="roundRect">
            <a:avLst>
              <a:gd name="adj" fmla="val 2304"/>
            </a:avLst>
          </a:prstGeom>
          <a:effectLst>
            <a:outerShdw sx="100000" sy="100000" kx="0" ky="0" algn="bl" rotWithShape="0" blurRad="406400" dist="152400" dir="5400000">
              <a:srgbClr val="000000">
                <a:alpha val="50000"/>
              </a:srgbClr>
            </a:outerShdw>
          </a:effectLst>
        </p:spPr>
      </p:pic>
      <p:sp>
        <p:nvSpPr>
          <p:cNvPr id="8" name="Shape 5"/>
          <p:cNvSpPr/>
          <p:nvPr/>
        </p:nvSpPr>
        <p:spPr>
          <a:xfrm>
            <a:off x="6940550" y="2044700"/>
            <a:ext cx="4432300" cy="2768600"/>
          </a:xfrm>
          <a:prstGeom prst="roundRect">
            <a:avLst>
              <a:gd name="adj" fmla="val 2523"/>
            </a:avLst>
          </a:prstGeom>
          <a:noFill/>
          <a:ln w="12700">
            <a:solidFill>
              <a:srgbClr val="3E3D3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JetBrains Mono" pitchFamily="34" charset="0"/>
                <a:ea typeface="JetBrains Mono" pitchFamily="34" charset="-122"/>
                <a:cs typeface="JetBrains Mono" pitchFamily="34" charset="-120"/>
              </a:rPr>
              <a:t>## The problem</a:t>
            </a:r>
            <a:endParaRPr lang="en-US" sz="1200" dirty="0"/>
          </a:p>
        </p:txBody>
      </p:sp>
      <p:sp>
        <p:nvSpPr>
          <p:cNvPr id="3" name="Text 1"/>
          <p:cNvSpPr/>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Every update starts with git log</a:t>
            </a:r>
            <a:endParaRPr lang="en-US" sz="3600" dirty="0"/>
          </a:p>
        </p:txBody>
      </p:sp>
      <p:sp>
        <p:nvSpPr>
          <p:cNvPr id="4" name="Shape 2"/>
          <p:cNvSpPr/>
          <p:nvPr/>
        </p:nvSpPr>
        <p:spPr>
          <a:xfrm>
            <a:off x="819150" y="1941830"/>
            <a:ext cx="4813300" cy="2740660"/>
          </a:xfrm>
          <a:prstGeom prst="roundRect">
            <a:avLst>
              <a:gd name="adj" fmla="val 2549"/>
            </a:avLst>
          </a:prstGeom>
          <a:solidFill>
            <a:srgbClr val="171814"/>
          </a:solidFill>
          <a:ln w="12700">
            <a:solidFill>
              <a:srgbClr val="3E3D32"/>
            </a:solidFill>
            <a:prstDash val="solid"/>
          </a:ln>
        </p:spPr>
      </p:sp>
      <p:sp>
        <p:nvSpPr>
          <p:cNvPr id="5" name="Text 3"/>
          <p:cNvSpPr/>
          <p:nvPr/>
        </p:nvSpPr>
        <p:spPr>
          <a:xfrm>
            <a:off x="1076960" y="2199640"/>
            <a:ext cx="44266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 git log --oneline</a:t>
            </a:r>
            <a:endParaRPr lang="en-US" sz="1200" dirty="0"/>
          </a:p>
        </p:txBody>
      </p:sp>
      <p:sp>
        <p:nvSpPr>
          <p:cNvPr id="6" name="Text 4"/>
          <p:cNvSpPr/>
          <p:nvPr/>
        </p:nvSpPr>
        <p:spPr>
          <a:xfrm>
            <a:off x="1076960" y="246380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a41c2e9</a:t>
            </a:r>
            <a:r>
              <a:rPr lang="en-US" sz="1600" dirty="0">
                <a:solidFill>
                  <a:srgbClr val="F8F8F2"/>
                </a:solidFill>
                <a:latin typeface="JetBrains Mono" pitchFamily="34" charset="0"/>
                <a:ea typeface="JetBrains Mono" pitchFamily="34" charset="-122"/>
                <a:cs typeface="JetBrains Mono" pitchFamily="34" charset="-120"/>
              </a:rPr>
              <a:t> fix stuff</a:t>
            </a:r>
            <a:endParaRPr lang="en-US" sz="1600" dirty="0"/>
          </a:p>
        </p:txBody>
      </p:sp>
      <p:sp>
        <p:nvSpPr>
          <p:cNvPr id="7" name="Text 5"/>
          <p:cNvSpPr/>
          <p:nvPr/>
        </p:nvSpPr>
        <p:spPr>
          <a:xfrm>
            <a:off x="1076960" y="279908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9be07d1</a:t>
            </a:r>
            <a:r>
              <a:rPr lang="en-US" sz="1600" dirty="0">
                <a:solidFill>
                  <a:srgbClr val="F8F8F2"/>
                </a:solidFill>
                <a:latin typeface="JetBrains Mono" pitchFamily="34" charset="0"/>
                <a:ea typeface="JetBrains Mono" pitchFamily="34" charset="-122"/>
                <a:cs typeface="JetBrains Mono" pitchFamily="34" charset="-120"/>
              </a:rPr>
              <a:t> wip</a:t>
            </a:r>
            <a:endParaRPr lang="en-US" sz="1600" dirty="0"/>
          </a:p>
        </p:txBody>
      </p:sp>
      <p:sp>
        <p:nvSpPr>
          <p:cNvPr id="8" name="Text 6"/>
          <p:cNvSpPr/>
          <p:nvPr/>
        </p:nvSpPr>
        <p:spPr>
          <a:xfrm>
            <a:off x="1076960" y="313436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3f5a8c0</a:t>
            </a:r>
            <a:r>
              <a:rPr lang="en-US" sz="1600" dirty="0">
                <a:solidFill>
                  <a:srgbClr val="F8F8F2"/>
                </a:solidFill>
                <a:latin typeface="JetBrains Mono" pitchFamily="34" charset="0"/>
                <a:ea typeface="JetBrains Mono" pitchFamily="34" charset="-122"/>
                <a:cs typeface="JetBrains Mono" pitchFamily="34" charset="-120"/>
              </a:rPr>
              <a:t> revert "fix stuff"</a:t>
            </a:r>
            <a:endParaRPr lang="en-US" sz="1600" dirty="0"/>
          </a:p>
        </p:txBody>
      </p:sp>
      <p:sp>
        <p:nvSpPr>
          <p:cNvPr id="9" name="Text 7"/>
          <p:cNvSpPr/>
          <p:nvPr/>
        </p:nvSpPr>
        <p:spPr>
          <a:xfrm>
            <a:off x="1076960" y="346964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c72d19b</a:t>
            </a:r>
            <a:r>
              <a:rPr lang="en-US" sz="1600" dirty="0">
                <a:solidFill>
                  <a:srgbClr val="F8F8F2"/>
                </a:solidFill>
                <a:latin typeface="JetBrains Mono" pitchFamily="34" charset="0"/>
                <a:ea typeface="JetBrains Mono" pitchFamily="34" charset="-122"/>
                <a:cs typeface="JetBrains Mono" pitchFamily="34" charset="-120"/>
              </a:rPr>
              <a:t> more changes</a:t>
            </a:r>
            <a:endParaRPr lang="en-US" sz="1600" dirty="0"/>
          </a:p>
        </p:txBody>
      </p:sp>
      <p:sp>
        <p:nvSpPr>
          <p:cNvPr id="10" name="Text 8"/>
          <p:cNvSpPr/>
          <p:nvPr/>
        </p:nvSpPr>
        <p:spPr>
          <a:xfrm>
            <a:off x="1076960" y="380492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e0b4f66</a:t>
            </a:r>
            <a:r>
              <a:rPr lang="en-US" sz="1600" dirty="0">
                <a:solidFill>
                  <a:srgbClr val="F8F8F2"/>
                </a:solidFill>
                <a:latin typeface="JetBrains Mono" pitchFamily="34" charset="0"/>
                <a:ea typeface="JetBrains Mono" pitchFamily="34" charset="-122"/>
                <a:cs typeface="JetBrains Mono" pitchFamily="34" charset="-120"/>
              </a:rPr>
              <a:t> formatting</a:t>
            </a:r>
            <a:endParaRPr lang="en-US" sz="1600" dirty="0"/>
          </a:p>
        </p:txBody>
      </p:sp>
      <p:sp>
        <p:nvSpPr>
          <p:cNvPr id="11" name="Text 9"/>
          <p:cNvSpPr/>
          <p:nvPr/>
        </p:nvSpPr>
        <p:spPr>
          <a:xfrm>
            <a:off x="1076960" y="414020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JetBrains Mono" pitchFamily="34" charset="0"/>
                <a:ea typeface="JetBrains Mono" pitchFamily="34" charset="-122"/>
                <a:cs typeface="JetBrains Mono" pitchFamily="34" charset="-120"/>
              </a:rPr>
              <a:t>58ad2a3</a:t>
            </a:r>
            <a:r>
              <a:rPr lang="en-US" sz="1600" dirty="0">
                <a:solidFill>
                  <a:srgbClr val="F8F8F2"/>
                </a:solidFill>
                <a:latin typeface="JetBrains Mono" pitchFamily="34" charset="0"/>
                <a:ea typeface="JetBrains Mono" pitchFamily="34" charset="-122"/>
                <a:cs typeface="JetBrains Mono" pitchFamily="34" charset="-120"/>
              </a:rPr>
              <a:t> update</a:t>
            </a:r>
            <a:endParaRPr lang="en-US" sz="1600" dirty="0"/>
          </a:p>
        </p:txBody>
      </p:sp>
      <p:sp>
        <p:nvSpPr>
          <p:cNvPr id="12" name="Text 10"/>
          <p:cNvSpPr/>
          <p:nvPr/>
        </p:nvSpPr>
        <p:spPr>
          <a:xfrm>
            <a:off x="6045200" y="2458720"/>
            <a:ext cx="5494020"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IBM Plex Sans" pitchFamily="34" charset="0"/>
                <a:ea typeface="IBM Plex Sans" pitchFamily="34" charset="-122"/>
                <a:cs typeface="IBM Plex Sans" pitchFamily="34" charset="-120"/>
              </a:rPr>
              <a:t>Commit messages don't say what got done.</a:t>
            </a:r>
            <a:endParaRPr lang="en-US" sz="2200" dirty="0"/>
          </a:p>
        </p:txBody>
      </p:sp>
      <p:sp>
        <p:nvSpPr>
          <p:cNvPr id="13" name="Text 11"/>
          <p:cNvSpPr/>
          <p:nvPr/>
        </p:nvSpPr>
        <p:spPr>
          <a:xfrm>
            <a:off x="6045200" y="3281680"/>
            <a:ext cx="549402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FCFC2"/>
                </a:solidFill>
                <a:latin typeface="IBM Plex Sans" pitchFamily="34" charset="0"/>
                <a:ea typeface="IBM Plex Sans" pitchFamily="34" charset="-122"/>
                <a:cs typeface="IBM Plex Sans" pitchFamily="34" charset="-120"/>
              </a:rPr>
              <a:t>So developers open diffs, jump between branches and piece the week together by hand, before every standup, Slack post and client email.</a:t>
            </a:r>
            <a:endParaRPr lang="en-US" sz="1600" dirty="0"/>
          </a:p>
        </p:txBody>
      </p:sp>
      <p:sp>
        <p:nvSpPr>
          <p:cNvPr id="14" name="Text 12"/>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15" name="Text 13"/>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JetBrains Mono" pitchFamily="34" charset="0"/>
                <a:ea typeface="JetBrains Mono" pitchFamily="34" charset="-122"/>
                <a:cs typeface="JetBrains Mono" pitchFamily="34" charset="-120"/>
              </a:rPr>
              <a:t>## Why it hurts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Slow, error-prone, repeated</a:t>
            </a:r>
            <a:endParaRPr lang="en-US" sz="3600" dirty="0"/>
          </a:p>
        </p:txBody>
      </p:sp>
      <p:sp>
        <p:nvSpPr>
          <p:cNvPr id="4" name="Shape 2"/>
          <p:cNvSpPr/>
          <p:nvPr/>
        </p:nvSpPr>
        <p:spPr>
          <a:xfrm>
            <a:off x="819150" y="1992630"/>
            <a:ext cx="3373914" cy="2598420"/>
          </a:xfrm>
          <a:prstGeom prst="roundRect">
            <a:avLst>
              <a:gd name="adj" fmla="val 2688"/>
            </a:avLst>
          </a:prstGeom>
          <a:solidFill>
            <a:srgbClr val="1E1F1C"/>
          </a:solidFill>
          <a:ln w="12700">
            <a:solidFill>
              <a:srgbClr val="3E3D32"/>
            </a:solidFill>
            <a:prstDash val="solid"/>
          </a:ln>
        </p:spPr>
      </p:sp>
      <p:pic>
        <p:nvPicPr>
          <p:cNvPr id="5" name="Image 0" descr="Clock">    </p:cNvPr>
          <p:cNvPicPr>
            <a:picLocks noChangeAspect="1"/>
          </p:cNvPicPr>
          <p:nvPr/>
        </p:nvPicPr>
        <p:blipFill>
          <a:blip r:embed="rId1"/>
          <a:srcRect l="0" r="0" t="0" b="0"/>
          <a:stretch/>
        </p:blipFill>
        <p:spPr>
          <a:xfrm>
            <a:off x="1076960" y="2250441"/>
            <a:ext cx="355600" cy="355600"/>
          </a:xfrm>
          <a:prstGeom prst="rect">
            <a:avLst/>
          </a:prstGeom>
        </p:spPr>
      </p:pic>
      <p:sp>
        <p:nvSpPr>
          <p:cNvPr id="6" name="Text 3"/>
          <p:cNvSpPr/>
          <p:nvPr/>
        </p:nvSpPr>
        <p:spPr>
          <a:xfrm>
            <a:off x="1076960" y="2733041"/>
            <a:ext cx="29440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JetBrains Mono" pitchFamily="34" charset="0"/>
                <a:ea typeface="JetBrains Mono" pitchFamily="34" charset="-122"/>
                <a:cs typeface="JetBrains Mono" pitchFamily="34" charset="-120"/>
              </a:rPr>
              <a:t>Slow</a:t>
            </a:r>
            <a:endParaRPr lang="en-US" sz="2200" dirty="0"/>
          </a:p>
        </p:txBody>
      </p:sp>
      <p:sp>
        <p:nvSpPr>
          <p:cNvPr id="7" name="Text 4"/>
          <p:cNvSpPr/>
          <p:nvPr/>
        </p:nvSpPr>
        <p:spPr>
          <a:xfrm>
            <a:off x="1076960" y="3195320"/>
            <a:ext cx="294404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Reading diffs across every branch just to recall what changed.</a:t>
            </a:r>
            <a:endParaRPr lang="en-US" sz="1600" dirty="0"/>
          </a:p>
        </p:txBody>
      </p:sp>
      <p:sp>
        <p:nvSpPr>
          <p:cNvPr id="8" name="Shape 5"/>
          <p:cNvSpPr/>
          <p:nvPr/>
        </p:nvSpPr>
        <p:spPr>
          <a:xfrm>
            <a:off x="4408964" y="1992630"/>
            <a:ext cx="3373993" cy="2598420"/>
          </a:xfrm>
          <a:prstGeom prst="roundRect">
            <a:avLst>
              <a:gd name="adj" fmla="val 2688"/>
            </a:avLst>
          </a:prstGeom>
          <a:solidFill>
            <a:srgbClr val="1E1F1C"/>
          </a:solidFill>
          <a:ln w="12700">
            <a:solidFill>
              <a:srgbClr val="3E3D32"/>
            </a:solidFill>
            <a:prstDash val="solid"/>
          </a:ln>
        </p:spPr>
      </p:sp>
      <p:pic>
        <p:nvPicPr>
          <p:cNvPr id="9" name="Image 1" descr="Warning">    </p:cNvPr>
          <p:cNvPicPr>
            <a:picLocks noChangeAspect="1"/>
          </p:cNvPicPr>
          <p:nvPr/>
        </p:nvPicPr>
        <p:blipFill>
          <a:blip r:embed="rId2"/>
          <a:srcRect l="0" r="0" t="0" b="0"/>
          <a:stretch/>
        </p:blipFill>
        <p:spPr>
          <a:xfrm>
            <a:off x="4666774" y="2250441"/>
            <a:ext cx="355600" cy="355600"/>
          </a:xfrm>
          <a:prstGeom prst="rect">
            <a:avLst/>
          </a:prstGeom>
        </p:spPr>
      </p:pic>
      <p:sp>
        <p:nvSpPr>
          <p:cNvPr id="10" name="Text 6"/>
          <p:cNvSpPr/>
          <p:nvPr/>
        </p:nvSpPr>
        <p:spPr>
          <a:xfrm>
            <a:off x="4666774" y="2733041"/>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JetBrains Mono" pitchFamily="34" charset="0"/>
                <a:ea typeface="JetBrains Mono" pitchFamily="34" charset="-122"/>
                <a:cs typeface="JetBrains Mono" pitchFamily="34" charset="-120"/>
              </a:rPr>
              <a:t>Error-prone</a:t>
            </a:r>
            <a:endParaRPr lang="en-US" sz="2200" dirty="0"/>
          </a:p>
        </p:txBody>
      </p:sp>
      <p:sp>
        <p:nvSpPr>
          <p:cNvPr id="11" name="Text 7"/>
          <p:cNvSpPr/>
          <p:nvPr/>
        </p:nvSpPr>
        <p:spPr>
          <a:xfrm>
            <a:off x="4666774" y="3195320"/>
            <a:ext cx="2944124"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Unmerged branch work gets forgotten. Reverts and formatting get reported as progress.</a:t>
            </a:r>
            <a:endParaRPr lang="en-US" sz="1600" dirty="0"/>
          </a:p>
        </p:txBody>
      </p:sp>
      <p:sp>
        <p:nvSpPr>
          <p:cNvPr id="12" name="Shape 8"/>
          <p:cNvSpPr/>
          <p:nvPr/>
        </p:nvSpPr>
        <p:spPr>
          <a:xfrm>
            <a:off x="7998857" y="1992630"/>
            <a:ext cx="3373993" cy="2598420"/>
          </a:xfrm>
          <a:prstGeom prst="roundRect">
            <a:avLst>
              <a:gd name="adj" fmla="val 2688"/>
            </a:avLst>
          </a:prstGeom>
          <a:solidFill>
            <a:srgbClr val="1E1F1C"/>
          </a:solidFill>
          <a:ln w="12700">
            <a:solidFill>
              <a:srgbClr val="3E3D32"/>
            </a:solidFill>
            <a:prstDash val="solid"/>
          </a:ln>
        </p:spPr>
      </p:sp>
      <p:pic>
        <p:nvPicPr>
          <p:cNvPr id="13" name="Image 2" descr="Chat">    </p:cNvPr>
          <p:cNvPicPr>
            <a:picLocks noChangeAspect="1"/>
          </p:cNvPicPr>
          <p:nvPr/>
        </p:nvPicPr>
        <p:blipFill>
          <a:blip r:embed="rId3"/>
          <a:srcRect l="0" r="0" t="0" b="0"/>
          <a:stretch/>
        </p:blipFill>
        <p:spPr>
          <a:xfrm>
            <a:off x="8256667" y="2250441"/>
            <a:ext cx="355600" cy="355600"/>
          </a:xfrm>
          <a:prstGeom prst="rect">
            <a:avLst/>
          </a:prstGeom>
        </p:spPr>
      </p:pic>
      <p:sp>
        <p:nvSpPr>
          <p:cNvPr id="14" name="Text 9"/>
          <p:cNvSpPr/>
          <p:nvPr/>
        </p:nvSpPr>
        <p:spPr>
          <a:xfrm>
            <a:off x="8256667" y="2733041"/>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JetBrains Mono" pitchFamily="34" charset="0"/>
                <a:ea typeface="JetBrains Mono" pitchFamily="34" charset="-122"/>
                <a:cs typeface="JetBrains Mono" pitchFamily="34" charset="-120"/>
              </a:rPr>
              <a:t>Repeated</a:t>
            </a:r>
            <a:endParaRPr lang="en-US" sz="2200" dirty="0"/>
          </a:p>
        </p:txBody>
      </p:sp>
      <p:sp>
        <p:nvSpPr>
          <p:cNvPr id="15" name="Text 10"/>
          <p:cNvSpPr/>
          <p:nvPr/>
        </p:nvSpPr>
        <p:spPr>
          <a:xfrm>
            <a:off x="8256667" y="3195320"/>
            <a:ext cx="294412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The same week rewritten for the team, the Slack channel and the client.</a:t>
            </a:r>
            <a:endParaRPr lang="en-US" sz="1600" dirty="0"/>
          </a:p>
        </p:txBody>
      </p:sp>
      <p:sp>
        <p:nvSpPr>
          <p:cNvPr id="16" name="Text 11"/>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17" name="Text 12"/>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JetBrains Mono" pitchFamily="34" charset="0"/>
                <a:ea typeface="JetBrains Mono" pitchFamily="34" charset="-122"/>
                <a:cs typeface="JetBrains Mono" pitchFamily="34" charset="-120"/>
              </a:rPr>
              <a:t>## The solution</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One click, six ready-to-post updates</a:t>
            </a:r>
            <a:endParaRPr lang="en-US" sz="3600" dirty="0"/>
          </a:p>
        </p:txBody>
      </p:sp>
      <p:sp>
        <p:nvSpPr>
          <p:cNvPr id="4" name="Text 2"/>
          <p:cNvSpPr/>
          <p:nvPr/>
        </p:nvSpPr>
        <p:spPr>
          <a:xfrm>
            <a:off x="812800" y="1986280"/>
            <a:ext cx="1371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JetBrains Mono" pitchFamily="34" charset="0"/>
                <a:ea typeface="JetBrains Mono" pitchFamily="34" charset="-122"/>
                <a:cs typeface="JetBrains Mono" pitchFamily="34" charset="-120"/>
              </a:rPr>
              <a:t>1</a:t>
            </a:r>
            <a:endParaRPr lang="en-US" sz="2200" dirty="0"/>
          </a:p>
        </p:txBody>
      </p:sp>
      <p:sp>
        <p:nvSpPr>
          <p:cNvPr id="5" name="Text 3"/>
          <p:cNvSpPr/>
          <p:nvPr/>
        </p:nvSpPr>
        <p:spPr>
          <a:xfrm>
            <a:off x="1051560" y="1986280"/>
            <a:ext cx="4201617"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Paste a repo URL.</a:t>
            </a:r>
            <a:r>
              <a:rPr lang="en-US" sz="1600" dirty="0">
                <a:solidFill>
                  <a:srgbClr val="CFCFC2"/>
                </a:solidFill>
                <a:latin typeface="IBM Plex Sans" pitchFamily="34" charset="0"/>
                <a:ea typeface="IBM Plex Sans" pitchFamily="34" charset="-122"/>
                <a:cs typeface="IBM Plex Sans" pitchFamily="34" charset="-120"/>
              </a:rPr>
              <a:t> GitHub, GitLab, Bitbucket, Azure DevOps. Private repos with a token.</a:t>
            </a:r>
            <a:endParaRPr lang="en-US" sz="1600" dirty="0"/>
          </a:p>
        </p:txBody>
      </p:sp>
      <p:sp>
        <p:nvSpPr>
          <p:cNvPr id="6" name="Text 4"/>
          <p:cNvSpPr/>
          <p:nvPr/>
        </p:nvSpPr>
        <p:spPr>
          <a:xfrm>
            <a:off x="812800" y="2733041"/>
            <a:ext cx="18303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JetBrains Mono" pitchFamily="34" charset="0"/>
                <a:ea typeface="JetBrains Mono" pitchFamily="34" charset="-122"/>
                <a:cs typeface="JetBrains Mono" pitchFamily="34" charset="-120"/>
              </a:rPr>
              <a:t>2</a:t>
            </a:r>
            <a:endParaRPr lang="en-US" sz="2200" dirty="0"/>
          </a:p>
        </p:txBody>
      </p:sp>
      <p:sp>
        <p:nvSpPr>
          <p:cNvPr id="7" name="Text 5"/>
          <p:cNvSpPr/>
          <p:nvPr/>
        </p:nvSpPr>
        <p:spPr>
          <a:xfrm>
            <a:off x="1097439" y="2733041"/>
            <a:ext cx="415436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Pick a range.</a:t>
            </a:r>
            <a:r>
              <a:rPr lang="en-US" sz="1600" dirty="0">
                <a:solidFill>
                  <a:srgbClr val="CFCFC2"/>
                </a:solidFill>
                <a:latin typeface="IBM Plex Sans" pitchFamily="34" charset="0"/>
                <a:ea typeface="IBM Plex Sans" pitchFamily="34" charset="-122"/>
                <a:cs typeface="IBM Plex Sans" pitchFamily="34" charset="-120"/>
              </a:rPr>
              <a:t> Last 24 hours to 30 days, or custom dates.</a:t>
            </a:r>
            <a:endParaRPr lang="en-US" sz="1600" dirty="0"/>
          </a:p>
        </p:txBody>
      </p:sp>
      <p:sp>
        <p:nvSpPr>
          <p:cNvPr id="8" name="Text 6"/>
          <p:cNvSpPr/>
          <p:nvPr/>
        </p:nvSpPr>
        <p:spPr>
          <a:xfrm>
            <a:off x="812800" y="3479800"/>
            <a:ext cx="19081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JetBrains Mono" pitchFamily="34" charset="0"/>
                <a:ea typeface="JetBrains Mono" pitchFamily="34" charset="-122"/>
                <a:cs typeface="JetBrains Mono" pitchFamily="34" charset="-120"/>
              </a:rPr>
              <a:t>3</a:t>
            </a:r>
            <a:endParaRPr lang="en-US" sz="2200" dirty="0"/>
          </a:p>
        </p:txBody>
      </p:sp>
      <p:sp>
        <p:nvSpPr>
          <p:cNvPr id="9" name="Text 7"/>
          <p:cNvSpPr/>
          <p:nvPr/>
        </p:nvSpPr>
        <p:spPr>
          <a:xfrm>
            <a:off x="1105218" y="3479800"/>
            <a:ext cx="414635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Press ⚡ Sync My Standup.</a:t>
            </a:r>
            <a:r>
              <a:rPr lang="en-US" sz="1600" dirty="0">
                <a:solidFill>
                  <a:srgbClr val="CFCFC2"/>
                </a:solidFill>
                <a:latin typeface="IBM Plex Sans" pitchFamily="34" charset="0"/>
                <a:ea typeface="IBM Plex Sans" pitchFamily="34" charset="-122"/>
                <a:cs typeface="IBM Plex Sans" pitchFamily="34" charset="-120"/>
              </a:rPr>
              <a:t> Watch each step run live.</a:t>
            </a:r>
            <a:endParaRPr lang="en-US" sz="1600" dirty="0"/>
          </a:p>
        </p:txBody>
      </p:sp>
      <p:sp>
        <p:nvSpPr>
          <p:cNvPr id="10" name="Shape 8"/>
          <p:cNvSpPr/>
          <p:nvPr/>
        </p:nvSpPr>
        <p:spPr>
          <a:xfrm>
            <a:off x="5537200" y="1986280"/>
            <a:ext cx="5842000" cy="1767840"/>
          </a:xfrm>
          <a:prstGeom prst="roundRect">
            <a:avLst>
              <a:gd name="adj" fmla="val 4310"/>
            </a:avLst>
          </a:prstGeom>
          <a:solidFill>
            <a:srgbClr val="272822"/>
          </a:solidFill>
          <a:ln/>
        </p:spPr>
      </p:sp>
      <p:sp>
        <p:nvSpPr>
          <p:cNvPr id="11" name="Shape 9"/>
          <p:cNvSpPr/>
          <p:nvPr/>
        </p:nvSpPr>
        <p:spPr>
          <a:xfrm>
            <a:off x="5537200" y="1986280"/>
            <a:ext cx="5842000" cy="1767840"/>
          </a:xfrm>
          <a:custGeom>
            <a:avLst/>
            <a:gdLst/>
            <a:ahLst/>
            <a:cxnLst/>
            <a:rect l="l" t="t" r="r" b="b"/>
            <a:pathLst>
              <a:path w="5842000" h="1767840">
                <a:moveTo>
                  <a:pt x="5765800" y="0"/>
                </a:moveTo>
                <a:lnTo>
                  <a:pt x="5765800" y="0"/>
                </a:lnTo>
                <a:arcTo hR="76200" wR="76200" stAng="16200000" swAng="5400000"/>
                <a:lnTo>
                  <a:pt x="5842000" y="1691640"/>
                </a:lnTo>
                <a:arcTo hR="76200" wR="76200" stAng="0" swAng="5400000"/>
                <a:lnTo>
                  <a:pt x="76200" y="1767840"/>
                </a:lnTo>
                <a:arcTo hR="76200" wR="76200" stAng="5400000" swAng="5400000"/>
                <a:lnTo>
                  <a:pt x="0" y="1691640"/>
                </a:lnTo>
                <a:arcTo hR="63500" wR="76200" stAng="10800000" swAng="-5400000"/>
                <a:lnTo>
                  <a:pt x="5765800" y="1755140"/>
                </a:lnTo>
                <a:arcTo hR="63500" wR="63500" stAng="5400000" swAng="-5400000"/>
                <a:lnTo>
                  <a:pt x="5829300" y="76200"/>
                </a:lnTo>
                <a:arcTo hR="76200" wR="63500" stAng="0" swAng="-5400000"/>
                <a:close/>
              </a:path>
            </a:pathLst>
          </a:custGeom>
          <a:solidFill>
            <a:srgbClr val="3E3D32"/>
          </a:solidFill>
          <a:ln/>
        </p:spPr>
      </p:sp>
      <p:sp>
        <p:nvSpPr>
          <p:cNvPr id="12" name="Shape 10"/>
          <p:cNvSpPr/>
          <p:nvPr/>
        </p:nvSpPr>
        <p:spPr>
          <a:xfrm>
            <a:off x="5537200" y="1986280"/>
            <a:ext cx="5842000" cy="1767840"/>
          </a:xfrm>
          <a:custGeom>
            <a:avLst/>
            <a:gdLst/>
            <a:ahLst/>
            <a:cxnLst/>
            <a:rect l="l" t="t" r="r" b="b"/>
            <a:pathLst>
              <a:path w="5842000" h="1767840">
                <a:moveTo>
                  <a:pt x="76200" y="1767840"/>
                </a:moveTo>
                <a:lnTo>
                  <a:pt x="76200" y="1767840"/>
                </a:lnTo>
                <a:arcTo hR="76200" wR="76200" stAng="5400000" swAng="5400000"/>
                <a:lnTo>
                  <a:pt x="0" y="76200"/>
                </a:lnTo>
                <a:arcTo hR="76200" wR="76200" stAng="10800000" swAng="5400000"/>
                <a:lnTo>
                  <a:pt x="5765800" y="0"/>
                </a:lnTo>
                <a:arcTo hR="76200" wR="76200" stAng="16200000" swAng="5400000"/>
                <a:lnTo>
                  <a:pt x="5842000" y="76200"/>
                </a:lnTo>
                <a:arcTo hR="66040" wR="76200" stAng="0" swAng="-5400000"/>
                <a:lnTo>
                  <a:pt x="76200" y="10160"/>
                </a:lnTo>
                <a:arcTo hR="66040" wR="66040" stAng="16200000" swAng="-5400000"/>
                <a:lnTo>
                  <a:pt x="10160" y="1691640"/>
                </a:lnTo>
                <a:arcTo hR="76200" wR="66040" stAng="10800000" swAng="-5400000"/>
                <a:close/>
              </a:path>
            </a:pathLst>
          </a:custGeom>
          <a:solidFill>
            <a:srgbClr val="FAF9F5">
              <a:alpha val="22000"/>
            </a:srgbClr>
          </a:solidFill>
          <a:ln/>
        </p:spPr>
      </p:sp>
      <p:sp>
        <p:nvSpPr>
          <p:cNvPr id="13" name="Shape 11"/>
          <p:cNvSpPr/>
          <p:nvPr/>
        </p:nvSpPr>
        <p:spPr>
          <a:xfrm>
            <a:off x="5547360" y="1996440"/>
            <a:ext cx="5821680" cy="436880"/>
          </a:xfrm>
          <a:custGeom>
            <a:avLst/>
            <a:gdLst/>
            <a:ahLst/>
            <a:cxnLst/>
            <a:rect l="l" t="t" r="r" b="b"/>
            <a:pathLst>
              <a:path w="5821680" h="436880">
                <a:moveTo>
                  <a:pt x="0" y="66040"/>
                </a:moveTo>
                <a:arcTo hR="66040" wR="66040" stAng="10800000" swAng="5400000"/>
                <a:lnTo>
                  <a:pt x="5755640" y="0"/>
                </a:lnTo>
                <a:arcTo hR="66040" wR="66040" stAng="16200000" swAng="5400000"/>
                <a:lnTo>
                  <a:pt x="5821680" y="436880"/>
                </a:lnTo>
                <a:lnTo>
                  <a:pt x="0" y="436880"/>
                </a:lnTo>
                <a:close/>
              </a:path>
            </a:pathLst>
          </a:custGeom>
          <a:solidFill>
            <a:srgbClr val="383933"/>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547360" y="1996440"/>
          <a:ext cx="5821680" cy="1747520"/>
        </p:xfrm>
        <a:graphic>
          <a:graphicData uri="http://schemas.openxmlformats.org/drawingml/2006/table">
            <a:tbl>
              <a:tblPr/>
              <a:tblGrid>
                <a:gridCol w="2328672"/>
                <a:gridCol w="3493008"/>
              </a:tblGrid>
              <a:tr h="436880">
                <a:tc>
                  <a:txBody>
                    <a:bodyPr/>
                    <a:lstStyle/>
                    <a:p>
                      <a:pPr indent="0" marL="0">
                        <a:lnSpc>
                          <a:spcPts val="2240"/>
                        </a:lnSpc>
                        <a:buNone/>
                      </a:pPr>
                      <a:r>
                        <a:rPr lang="en-US" sz="1600" b="1" dirty="0">
                          <a:solidFill>
                            <a:srgbClr val="F8F8F2"/>
                          </a:solidFill>
                          <a:latin typeface="IBM Plex Sans" pitchFamily="34" charset="0"/>
                          <a:ea typeface="IBM Plex Sans" pitchFamily="34" charset="-122"/>
                          <a:cs typeface="IBM Plex Sans" pitchFamily="34" charset="-120"/>
                        </a:rPr>
                        <a:t>Format</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63635E"/>
                      </a:solidFill>
                      <a:prstDash val="solid"/>
                      <a:round/>
                      <a:headEnd type="none" w="med" len="med"/>
                      <a:tailEnd type="none" w="med" len="med"/>
                    </a:lnR>
                    <a:lnT w="0" cap="flat" cmpd="sng" algn="ctr">
                      <a:noFill/>
                    </a:lnT>
                    <a:lnB w="12700" cap="flat" cmpd="sng" algn="ctr">
                      <a:solidFill>
                        <a:srgbClr val="63635E"/>
                      </a:solidFill>
                      <a:prstDash val="solid"/>
                      <a:round/>
                      <a:headEnd type="none" w="med" len="med"/>
                      <a:tailEnd type="none" w="med" len="med"/>
                    </a:lnB>
                  </a:tcPr>
                </a:tc>
                <a:tc>
                  <a:txBody>
                    <a:bodyPr/>
                    <a:lstStyle/>
                    <a:p>
                      <a:pPr indent="0" marL="0">
                        <a:lnSpc>
                          <a:spcPts val="2240"/>
                        </a:lnSpc>
                        <a:buNone/>
                      </a:pPr>
                      <a:r>
                        <a:rPr lang="en-US" sz="1600" b="1" dirty="0">
                          <a:solidFill>
                            <a:srgbClr val="F8F8F2"/>
                          </a:solidFill>
                          <a:latin typeface="IBM Plex Sans" pitchFamily="34" charset="0"/>
                          <a:ea typeface="IBM Plex Sans" pitchFamily="34" charset="-122"/>
                          <a:cs typeface="IBM Plex Sans" pitchFamily="34" charset="-120"/>
                        </a:rPr>
                        <a:t>Kept to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63635E"/>
                      </a:solidFill>
                      <a:prstDash val="solid"/>
                      <a:round/>
                      <a:headEnd type="none" w="med" len="med"/>
                      <a:tailEnd type="none" w="med" len="med"/>
                    </a:lnL>
                    <a:lnR w="12700" cap="flat" cmpd="sng" algn="ctr">
                      <a:solidFill>
                        <a:srgbClr val="63635E"/>
                      </a:solidFill>
                      <a:prstDash val="solid"/>
                      <a:round/>
                      <a:headEnd type="none" w="med" len="med"/>
                      <a:tailEnd type="none" w="med" len="med"/>
                    </a:lnR>
                    <a:lnT w="0" cap="flat" cmpd="sng" algn="ctr">
                      <a:noFill/>
                    </a:lnT>
                    <a:lnB w="12700" cap="flat" cmpd="sng" algn="ctr">
                      <a:solidFill>
                        <a:srgbClr val="63635E"/>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IBM Plex Sans" pitchFamily="34" charset="0"/>
                          <a:ea typeface="IBM Plex Sans" pitchFamily="34" charset="-122"/>
                          <a:cs typeface="IBM Plex Sans" pitchFamily="34" charset="-120"/>
                        </a:rPr>
                        <a:t>Slack</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63635E"/>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3–6 short bullets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63635E"/>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IBM Plex Sans" pitchFamily="34" charset="0"/>
                          <a:ea typeface="IBM Plex Sans" pitchFamily="34" charset="-122"/>
                          <a:cs typeface="IBM Plex Sans" pitchFamily="34" charset="-120"/>
                        </a:rPr>
                        <a:t>Email</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300 words, 2–4 sections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IBM Plex Sans" pitchFamily="34" charset="0"/>
                          <a:ea typeface="IBM Plex Sans" pitchFamily="34" charset="-122"/>
                          <a:cs typeface="IBM Plex Sans" pitchFamily="34" charset="-120"/>
                        </a:rPr>
                        <a:t>Standup</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3 lines per person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bl>
          </a:graphicData>
        </a:graphic>
      </p:graphicFrame>
      <p:sp>
        <p:nvSpPr>
          <p:cNvPr id="15" name="Text 12"/>
          <p:cNvSpPr/>
          <p:nvPr/>
        </p:nvSpPr>
        <p:spPr>
          <a:xfrm>
            <a:off x="5537200" y="3931920"/>
            <a:ext cx="60172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Each one twice: for </a:t>
            </a:r>
            <a:r>
              <a:rPr lang="en-US" sz="1600" dirty="0">
                <a:solidFill>
                  <a:srgbClr val="A6E22E"/>
                </a:solidFill>
                <a:latin typeface="IBM Plex Sans" pitchFamily="34" charset="0"/>
                <a:ea typeface="IBM Plex Sans" pitchFamily="34" charset="-122"/>
                <a:cs typeface="IBM Plex Sans" pitchFamily="34" charset="-120"/>
              </a:rPr>
              <a:t>developers</a:t>
            </a:r>
            <a:r>
              <a:rPr lang="en-US" sz="1600" dirty="0">
                <a:solidFill>
                  <a:srgbClr val="CFCFC2"/>
                </a:solidFill>
                <a:latin typeface="IBM Plex Sans" pitchFamily="34" charset="0"/>
                <a:ea typeface="IBM Plex Sans" pitchFamily="34" charset="-122"/>
                <a:cs typeface="IBM Plex Sans" pitchFamily="34" charset="-120"/>
              </a:rPr>
              <a:t> (files, functions) and for </a:t>
            </a:r>
            <a:r>
              <a:rPr lang="en-US" sz="1600" dirty="0">
                <a:solidFill>
                  <a:srgbClr val="66D9EF"/>
                </a:solidFill>
                <a:latin typeface="IBM Plex Sans" pitchFamily="34" charset="0"/>
                <a:ea typeface="IBM Plex Sans" pitchFamily="34" charset="-122"/>
                <a:cs typeface="IBM Plex Sans" pitchFamily="34" charset="-120"/>
              </a:rPr>
              <a:t>clients</a:t>
            </a:r>
            <a:r>
              <a:rPr lang="en-US" sz="1600" dirty="0">
                <a:solidFill>
                  <a:srgbClr val="CFCFC2"/>
                </a:solidFill>
                <a:latin typeface="IBM Plex Sans" pitchFamily="34" charset="0"/>
                <a:ea typeface="IBM Plex Sans" pitchFamily="34" charset="-122"/>
                <a:cs typeface="IBM Plex Sans" pitchFamily="34" charset="-120"/>
              </a:rPr>
              <a:t> (plain English).</a:t>
            </a:r>
            <a:endParaRPr lang="en-US" sz="1600" dirty="0"/>
          </a:p>
        </p:txBody>
      </p:sp>
      <p:sp>
        <p:nvSpPr>
          <p:cNvPr id="16" name="Text 13"/>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17" name="Text 1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JetBrains Mono" pitchFamily="34" charset="0"/>
                <a:ea typeface="JetBrains Mono" pitchFamily="34" charset="-122"/>
                <a:cs typeface="JetBrains Mono" pitchFamily="34" charset="-120"/>
              </a:rPr>
              <a:t>## The app</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Feels like your editor</a:t>
            </a:r>
            <a:endParaRPr lang="en-US" sz="3600" dirty="0"/>
          </a:p>
        </p:txBody>
      </p:sp>
      <p:sp>
        <p:nvSpPr>
          <p:cNvPr id="4" name="Shape 2"/>
          <p:cNvSpPr/>
          <p:nvPr/>
        </p:nvSpPr>
        <p:spPr>
          <a:xfrm>
            <a:off x="812800" y="1884682"/>
            <a:ext cx="6096000" cy="3810000"/>
          </a:xfrm>
          <a:prstGeom prst="roundRect">
            <a:avLst>
              <a:gd name="adj" fmla="val 2000"/>
            </a:avLst>
          </a:prstGeom>
          <a:solidFill>
            <a:srgbClr val="171814"/>
          </a:solidFill>
          <a:ln/>
        </p:spPr>
      </p:sp>
      <p:pic>
        <p:nvPicPr>
          <p:cNvPr id="5" name="Image 0" descr="The /standup page mid-run: the form on the left, a five-step progress tracker with Clone, Extract and Filter done and Analyse running, an OUTPUT log, and the colour-coded raw git log of this repository">    </p:cNvPr>
          <p:cNvPicPr>
            <a:picLocks noChangeAspect="1"/>
          </p:cNvPicPr>
          <p:nvPr/>
        </p:nvPicPr>
        <p:blipFill>
          <a:blip r:embed="rId1"/>
          <a:srcRect l="-126" r="-126" t="0" b="0"/>
          <a:stretch/>
        </p:blipFill>
        <p:spPr>
          <a:xfrm>
            <a:off x="825500" y="1897382"/>
            <a:ext cx="6070600" cy="3784600"/>
          </a:xfrm>
          <a:prstGeom prst="roundRect">
            <a:avLst>
              <a:gd name="adj" fmla="val 1678"/>
            </a:avLst>
          </a:prstGeom>
        </p:spPr>
      </p:pic>
      <p:sp>
        <p:nvSpPr>
          <p:cNvPr id="6" name="Shape 3"/>
          <p:cNvSpPr/>
          <p:nvPr/>
        </p:nvSpPr>
        <p:spPr>
          <a:xfrm>
            <a:off x="819150" y="1891032"/>
            <a:ext cx="6083300" cy="3797300"/>
          </a:xfrm>
          <a:prstGeom prst="roundRect">
            <a:avLst>
              <a:gd name="adj" fmla="val 1839"/>
            </a:avLst>
          </a:prstGeom>
          <a:noFill/>
          <a:ln w="12700">
            <a:solidFill>
              <a:srgbClr val="3E3D32"/>
            </a:solidFill>
            <a:prstDash val="solid"/>
          </a:ln>
        </p:spPr>
      </p:sp>
      <p:sp>
        <p:nvSpPr>
          <p:cNvPr id="7" name="Text 4"/>
          <p:cNvSpPr/>
          <p:nvPr/>
        </p:nvSpPr>
        <p:spPr>
          <a:xfrm>
            <a:off x="7264400" y="1884682"/>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Live progress.</a:t>
            </a:r>
            <a:r>
              <a:rPr lang="en-US" sz="1600" dirty="0">
                <a:solidFill>
                  <a:srgbClr val="CFCFC2"/>
                </a:solidFill>
                <a:latin typeface="IBM Plex Sans" pitchFamily="34" charset="0"/>
                <a:ea typeface="IBM Plex Sans" pitchFamily="34" charset="-122"/>
                <a:cs typeface="IBM Plex Sans" pitchFamily="34" charset="-120"/>
              </a:rPr>
              <a:t> Five steps and an OUTPUT log, as the work happens.</a:t>
            </a:r>
            <a:endParaRPr lang="en-US" sz="1600" dirty="0"/>
          </a:p>
        </p:txBody>
      </p:sp>
      <p:sp>
        <p:nvSpPr>
          <p:cNvPr id="8" name="Text 5"/>
          <p:cNvSpPr/>
          <p:nvPr/>
        </p:nvSpPr>
        <p:spPr>
          <a:xfrm>
            <a:off x="7264400" y="2631439"/>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Raw log first.</a:t>
            </a:r>
            <a:r>
              <a:rPr lang="en-US" sz="1600" dirty="0">
                <a:solidFill>
                  <a:srgbClr val="CFCFC2"/>
                </a:solidFill>
                <a:latin typeface="IBM Plex Sans" pitchFamily="34" charset="0"/>
                <a:ea typeface="IBM Plex Sans" pitchFamily="34" charset="-122"/>
                <a:cs typeface="IBM Plex Sans" pitchFamily="34" charset="-120"/>
              </a:rPr>
              <a:t> Every commit, tagged with its branch, within seconds.</a:t>
            </a:r>
            <a:endParaRPr lang="en-US" sz="1600" dirty="0"/>
          </a:p>
        </p:txBody>
      </p:sp>
      <p:sp>
        <p:nvSpPr>
          <p:cNvPr id="9" name="Text 6"/>
          <p:cNvSpPr/>
          <p:nvPr/>
        </p:nvSpPr>
        <p:spPr>
          <a:xfrm>
            <a:off x="7264400" y="3378200"/>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IBM Plex Sans" pitchFamily="34" charset="0"/>
                <a:ea typeface="IBM Plex Sans" pitchFamily="34" charset="-122"/>
                <a:cs typeface="IBM Plex Sans" pitchFamily="34" charset="-120"/>
              </a:rPr>
              <a:t>Then the updates.</a:t>
            </a:r>
            <a:r>
              <a:rPr lang="en-US" sz="1600" dirty="0">
                <a:solidFill>
                  <a:srgbClr val="CFCFC2"/>
                </a:solidFill>
                <a:latin typeface="IBM Plex Sans" pitchFamily="34" charset="0"/>
                <a:ea typeface="IBM Plex Sans" pitchFamily="34" charset="-122"/>
                <a:cs typeface="IBM Plex Sans" pitchFamily="34" charset="-120"/>
              </a:rPr>
              <a:t> Toggle developers and clients, copy in one click.</a:t>
            </a:r>
            <a:endParaRPr lang="en-US" sz="1600" dirty="0"/>
          </a:p>
        </p:txBody>
      </p:sp>
      <p:sp>
        <p:nvSpPr>
          <p:cNvPr id="10" name="Text 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11" name="Text 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JetBrains Mono" pitchFamily="34" charset="0"/>
                <a:ea typeface="JetBrains Mono" pitchFamily="34" charset="-122"/>
                <a:cs typeface="JetBrains Mono" pitchFamily="34" charset="-120"/>
              </a:rPr>
              <a:t>## How it works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Five steps, only two use AI</a:t>
            </a:r>
            <a:endParaRPr lang="en-US" sz="3600" dirty="0"/>
          </a:p>
        </p:txBody>
      </p:sp>
      <p:sp>
        <p:nvSpPr>
          <p:cNvPr id="4" name="Shape 2"/>
          <p:cNvSpPr/>
          <p:nvPr/>
        </p:nvSpPr>
        <p:spPr>
          <a:xfrm>
            <a:off x="819150" y="2099311"/>
            <a:ext cx="1841500" cy="1374140"/>
          </a:xfrm>
          <a:prstGeom prst="roundRect">
            <a:avLst>
              <a:gd name="adj" fmla="val 5083"/>
            </a:avLst>
          </a:prstGeom>
          <a:solidFill>
            <a:srgbClr val="272822"/>
          </a:solidFill>
          <a:ln w="12700">
            <a:solidFill>
              <a:srgbClr val="3E3D32"/>
            </a:solidFill>
            <a:prstDash val="solid"/>
          </a:ln>
        </p:spPr>
      </p:sp>
      <p:sp>
        <p:nvSpPr>
          <p:cNvPr id="5" name="Text 3"/>
          <p:cNvSpPr/>
          <p:nvPr/>
        </p:nvSpPr>
        <p:spPr>
          <a:xfrm>
            <a:off x="975360" y="2255521"/>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JetBrains Mono" pitchFamily="34" charset="0"/>
                <a:ea typeface="JetBrains Mono" pitchFamily="34" charset="-122"/>
                <a:cs typeface="JetBrains Mono" pitchFamily="34" charset="-120"/>
              </a:rPr>
              <a:t>no LLM</a:t>
            </a:r>
            <a:endParaRPr lang="en-US" sz="1200" dirty="0"/>
          </a:p>
        </p:txBody>
      </p:sp>
      <p:sp>
        <p:nvSpPr>
          <p:cNvPr id="6" name="Text 4"/>
          <p:cNvSpPr/>
          <p:nvPr/>
        </p:nvSpPr>
        <p:spPr>
          <a:xfrm>
            <a:off x="975360" y="255778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E81FF"/>
                </a:solidFill>
                <a:latin typeface="IBM Plex Sans" pitchFamily="34" charset="0"/>
                <a:ea typeface="IBM Plex Sans" pitchFamily="34" charset="-122"/>
                <a:cs typeface="IBM Plex Sans" pitchFamily="34" charset="-120"/>
              </a:rPr>
              <a:t>Git repo</a:t>
            </a:r>
            <a:endParaRPr lang="en-US" sz="1600" dirty="0"/>
          </a:p>
        </p:txBody>
      </p:sp>
      <p:sp>
        <p:nvSpPr>
          <p:cNvPr id="7" name="Text 5"/>
          <p:cNvSpPr/>
          <p:nvPr/>
        </p:nvSpPr>
        <p:spPr>
          <a:xfrm>
            <a:off x="975360" y="2890521"/>
            <a:ext cx="15798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IBM Plex Sans" pitchFamily="34" charset="0"/>
                <a:ea typeface="IBM Plex Sans" pitchFamily="34" charset="-122"/>
                <a:cs typeface="IBM Plex Sans" pitchFamily="34" charset="-120"/>
              </a:rPr>
              <a:t>Every branch in your date range</a:t>
            </a:r>
            <a:endParaRPr lang="en-US" sz="1200" dirty="0"/>
          </a:p>
        </p:txBody>
      </p:sp>
      <p:pic>
        <p:nvPicPr>
          <p:cNvPr id="8" name="Image 0" descr="arrow-right">    </p:cNvPr>
          <p:cNvPicPr>
            <a:picLocks noChangeAspect="1"/>
          </p:cNvPicPr>
          <p:nvPr/>
        </p:nvPicPr>
        <p:blipFill>
          <a:blip r:embed="rId1"/>
          <a:srcRect l="0" r="0" t="0" b="0"/>
          <a:stretch/>
        </p:blipFill>
        <p:spPr>
          <a:xfrm>
            <a:off x="2743200" y="2710182"/>
            <a:ext cx="171450" cy="152400"/>
          </a:xfrm>
          <a:prstGeom prst="rect">
            <a:avLst/>
          </a:prstGeom>
        </p:spPr>
      </p:pic>
      <p:sp>
        <p:nvSpPr>
          <p:cNvPr id="9" name="Shape 6"/>
          <p:cNvSpPr/>
          <p:nvPr/>
        </p:nvSpPr>
        <p:spPr>
          <a:xfrm>
            <a:off x="2997200" y="1992632"/>
            <a:ext cx="1841500" cy="1587500"/>
          </a:xfrm>
          <a:prstGeom prst="roundRect">
            <a:avLst>
              <a:gd name="adj" fmla="val 4400"/>
            </a:avLst>
          </a:prstGeom>
          <a:solidFill>
            <a:srgbClr val="272822"/>
          </a:solidFill>
          <a:ln w="12700">
            <a:solidFill>
              <a:srgbClr val="3E3D32"/>
            </a:solidFill>
            <a:prstDash val="solid"/>
          </a:ln>
        </p:spPr>
      </p:sp>
      <p:sp>
        <p:nvSpPr>
          <p:cNvPr id="10" name="Text 7"/>
          <p:cNvSpPr/>
          <p:nvPr/>
        </p:nvSpPr>
        <p:spPr>
          <a:xfrm>
            <a:off x="315341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JetBrains Mono" pitchFamily="34" charset="0"/>
                <a:ea typeface="JetBrains Mono" pitchFamily="34" charset="-122"/>
                <a:cs typeface="JetBrains Mono" pitchFamily="34" charset="-120"/>
              </a:rPr>
              <a:t>no LLM</a:t>
            </a:r>
            <a:endParaRPr lang="en-US" sz="1200" dirty="0"/>
          </a:p>
        </p:txBody>
      </p:sp>
      <p:sp>
        <p:nvSpPr>
          <p:cNvPr id="11" name="Text 8"/>
          <p:cNvSpPr/>
          <p:nvPr/>
        </p:nvSpPr>
        <p:spPr>
          <a:xfrm>
            <a:off x="315341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6E22E"/>
                </a:solidFill>
                <a:latin typeface="IBM Plex Sans" pitchFamily="34" charset="0"/>
                <a:ea typeface="IBM Plex Sans" pitchFamily="34" charset="-122"/>
                <a:cs typeface="IBM Plex Sans" pitchFamily="34" charset="-120"/>
              </a:rPr>
              <a:t>Noise filter</a:t>
            </a:r>
            <a:endParaRPr lang="en-US" sz="1600" dirty="0"/>
          </a:p>
        </p:txBody>
      </p:sp>
      <p:sp>
        <p:nvSpPr>
          <p:cNvPr id="12" name="Text 9"/>
          <p:cNvSpPr/>
          <p:nvPr/>
        </p:nvSpPr>
        <p:spPr>
          <a:xfrm>
            <a:off x="315341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IBM Plex Sans" pitchFamily="34" charset="0"/>
                <a:ea typeface="IBM Plex Sans" pitchFamily="34" charset="-122"/>
                <a:cs typeface="IBM Plex Sans" pitchFamily="34" charset="-120"/>
              </a:rPr>
              <a:t>Drops merges, lock files, spacing-only changes, reverts</a:t>
            </a:r>
            <a:endParaRPr lang="en-US" sz="1200" dirty="0"/>
          </a:p>
        </p:txBody>
      </p:sp>
      <p:pic>
        <p:nvPicPr>
          <p:cNvPr id="13" name="Image 1" descr="arrow-right">    </p:cNvPr>
          <p:cNvPicPr>
            <a:picLocks noChangeAspect="1"/>
          </p:cNvPicPr>
          <p:nvPr/>
        </p:nvPicPr>
        <p:blipFill>
          <a:blip r:embed="rId2"/>
          <a:srcRect l="0" r="0" t="0" b="0"/>
          <a:stretch/>
        </p:blipFill>
        <p:spPr>
          <a:xfrm>
            <a:off x="4921250" y="2710182"/>
            <a:ext cx="171450" cy="152400"/>
          </a:xfrm>
          <a:prstGeom prst="rect">
            <a:avLst/>
          </a:prstGeom>
        </p:spPr>
      </p:pic>
      <p:sp>
        <p:nvSpPr>
          <p:cNvPr id="14" name="Shape 10"/>
          <p:cNvSpPr/>
          <p:nvPr/>
        </p:nvSpPr>
        <p:spPr>
          <a:xfrm>
            <a:off x="5175250" y="1992632"/>
            <a:ext cx="1841500" cy="1587500"/>
          </a:xfrm>
          <a:prstGeom prst="roundRect">
            <a:avLst>
              <a:gd name="adj" fmla="val 4400"/>
            </a:avLst>
          </a:prstGeom>
          <a:solidFill>
            <a:srgbClr val="272822"/>
          </a:solidFill>
          <a:ln w="12700">
            <a:solidFill>
              <a:srgbClr val="F92672"/>
            </a:solidFill>
            <a:prstDash val="solid"/>
          </a:ln>
        </p:spPr>
      </p:sp>
      <p:sp>
        <p:nvSpPr>
          <p:cNvPr id="15" name="Text 11"/>
          <p:cNvSpPr/>
          <p:nvPr/>
        </p:nvSpPr>
        <p:spPr>
          <a:xfrm>
            <a:off x="533146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B9D"/>
                </a:solidFill>
                <a:latin typeface="JetBrains Mono" pitchFamily="34" charset="0"/>
                <a:ea typeface="JetBrains Mono" pitchFamily="34" charset="-122"/>
                <a:cs typeface="JetBrains Mono" pitchFamily="34" charset="-120"/>
              </a:rPr>
              <a:t>LLM</a:t>
            </a:r>
            <a:endParaRPr lang="en-US" sz="1200" dirty="0"/>
          </a:p>
        </p:txBody>
      </p:sp>
      <p:sp>
        <p:nvSpPr>
          <p:cNvPr id="16" name="Text 12"/>
          <p:cNvSpPr/>
          <p:nvPr/>
        </p:nvSpPr>
        <p:spPr>
          <a:xfrm>
            <a:off x="533146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8F2"/>
                </a:solidFill>
                <a:latin typeface="IBM Plex Sans" pitchFamily="34" charset="0"/>
                <a:ea typeface="IBM Plex Sans" pitchFamily="34" charset="-122"/>
                <a:cs typeface="IBM Plex Sans" pitchFamily="34" charset="-120"/>
              </a:rPr>
              <a:t>Read the diffs</a:t>
            </a:r>
            <a:endParaRPr lang="en-US" sz="1600" dirty="0"/>
          </a:p>
        </p:txBody>
      </p:sp>
      <p:sp>
        <p:nvSpPr>
          <p:cNvPr id="17" name="Text 13"/>
          <p:cNvSpPr/>
          <p:nvPr/>
        </p:nvSpPr>
        <p:spPr>
          <a:xfrm>
            <a:off x="533146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IBM Plex Sans" pitchFamily="34" charset="0"/>
                <a:ea typeface="IBM Plex Sans" pitchFamily="34" charset="-122"/>
                <a:cs typeface="IBM Plex Sans" pitchFamily="34" charset="-120"/>
              </a:rPr>
              <a:t>One line per commit, tagged MAJOR or MINOR</a:t>
            </a:r>
            <a:endParaRPr lang="en-US" sz="1200" dirty="0"/>
          </a:p>
        </p:txBody>
      </p:sp>
      <p:pic>
        <p:nvPicPr>
          <p:cNvPr id="18" name="Image 2" descr="arrow-right">    </p:cNvPr>
          <p:cNvPicPr>
            <a:picLocks noChangeAspect="1"/>
          </p:cNvPicPr>
          <p:nvPr/>
        </p:nvPicPr>
        <p:blipFill>
          <a:blip r:embed="rId3"/>
          <a:srcRect l="0" r="0" t="0" b="0"/>
          <a:stretch/>
        </p:blipFill>
        <p:spPr>
          <a:xfrm>
            <a:off x="7099300" y="2710182"/>
            <a:ext cx="171450" cy="152400"/>
          </a:xfrm>
          <a:prstGeom prst="rect">
            <a:avLst/>
          </a:prstGeom>
        </p:spPr>
      </p:pic>
      <p:sp>
        <p:nvSpPr>
          <p:cNvPr id="19" name="Shape 14"/>
          <p:cNvSpPr/>
          <p:nvPr/>
        </p:nvSpPr>
        <p:spPr>
          <a:xfrm>
            <a:off x="7353300" y="2099311"/>
            <a:ext cx="1841500" cy="1374140"/>
          </a:xfrm>
          <a:prstGeom prst="roundRect">
            <a:avLst>
              <a:gd name="adj" fmla="val 5083"/>
            </a:avLst>
          </a:prstGeom>
          <a:solidFill>
            <a:srgbClr val="272822"/>
          </a:solidFill>
          <a:ln w="12700">
            <a:solidFill>
              <a:srgbClr val="3E3D32"/>
            </a:solidFill>
            <a:prstDash val="solid"/>
          </a:ln>
        </p:spPr>
      </p:sp>
      <p:sp>
        <p:nvSpPr>
          <p:cNvPr id="20" name="Text 15"/>
          <p:cNvSpPr/>
          <p:nvPr/>
        </p:nvSpPr>
        <p:spPr>
          <a:xfrm>
            <a:off x="7509510" y="2255521"/>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JetBrains Mono" pitchFamily="34" charset="0"/>
                <a:ea typeface="JetBrains Mono" pitchFamily="34" charset="-122"/>
                <a:cs typeface="JetBrains Mono" pitchFamily="34" charset="-120"/>
              </a:rPr>
              <a:t>no LLM</a:t>
            </a:r>
            <a:endParaRPr lang="en-US" sz="1200" dirty="0"/>
          </a:p>
        </p:txBody>
      </p:sp>
      <p:sp>
        <p:nvSpPr>
          <p:cNvPr id="21" name="Text 16"/>
          <p:cNvSpPr/>
          <p:nvPr/>
        </p:nvSpPr>
        <p:spPr>
          <a:xfrm>
            <a:off x="7509510" y="255778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IBM Plex Sans" pitchFamily="34" charset="0"/>
                <a:ea typeface="IBM Plex Sans" pitchFamily="34" charset="-122"/>
                <a:cs typeface="IBM Plex Sans" pitchFamily="34" charset="-120"/>
              </a:rPr>
              <a:t>Highlights</a:t>
            </a:r>
            <a:endParaRPr lang="en-US" sz="1600" dirty="0"/>
          </a:p>
        </p:txBody>
      </p:sp>
      <p:sp>
        <p:nvSpPr>
          <p:cNvPr id="22" name="Text 17"/>
          <p:cNvSpPr/>
          <p:nvPr/>
        </p:nvSpPr>
        <p:spPr>
          <a:xfrm>
            <a:off x="7509510" y="2890521"/>
            <a:ext cx="15798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IBM Plex Sans" pitchFamily="34" charset="0"/>
                <a:ea typeface="IBM Plex Sans" pitchFamily="34" charset="-122"/>
                <a:cs typeface="IBM Plex Sans" pitchFamily="34" charset="-120"/>
              </a:rPr>
              <a:t>Major updates only, by area and author</a:t>
            </a:r>
            <a:endParaRPr lang="en-US" sz="1200" dirty="0"/>
          </a:p>
        </p:txBody>
      </p:sp>
      <p:pic>
        <p:nvPicPr>
          <p:cNvPr id="23" name="Image 3" descr="arrow-right">    </p:cNvPr>
          <p:cNvPicPr>
            <a:picLocks noChangeAspect="1"/>
          </p:cNvPicPr>
          <p:nvPr/>
        </p:nvPicPr>
        <p:blipFill>
          <a:blip r:embed="rId4"/>
          <a:srcRect l="0" r="0" t="0" b="0"/>
          <a:stretch/>
        </p:blipFill>
        <p:spPr>
          <a:xfrm>
            <a:off x="9277350" y="2710182"/>
            <a:ext cx="171450" cy="152400"/>
          </a:xfrm>
          <a:prstGeom prst="rect">
            <a:avLst/>
          </a:prstGeom>
        </p:spPr>
      </p:pic>
      <p:sp>
        <p:nvSpPr>
          <p:cNvPr id="24" name="Shape 18"/>
          <p:cNvSpPr/>
          <p:nvPr/>
        </p:nvSpPr>
        <p:spPr>
          <a:xfrm>
            <a:off x="9531350" y="1992632"/>
            <a:ext cx="1841500" cy="1587500"/>
          </a:xfrm>
          <a:prstGeom prst="roundRect">
            <a:avLst>
              <a:gd name="adj" fmla="val 4400"/>
            </a:avLst>
          </a:prstGeom>
          <a:solidFill>
            <a:srgbClr val="272822"/>
          </a:solidFill>
          <a:ln w="12700">
            <a:solidFill>
              <a:srgbClr val="F92672"/>
            </a:solidFill>
            <a:prstDash val="solid"/>
          </a:ln>
        </p:spPr>
      </p:sp>
      <p:sp>
        <p:nvSpPr>
          <p:cNvPr id="25" name="Text 19"/>
          <p:cNvSpPr/>
          <p:nvPr/>
        </p:nvSpPr>
        <p:spPr>
          <a:xfrm>
            <a:off x="968756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B9D"/>
                </a:solidFill>
                <a:latin typeface="JetBrains Mono" pitchFamily="34" charset="0"/>
                <a:ea typeface="JetBrains Mono" pitchFamily="34" charset="-122"/>
                <a:cs typeface="JetBrains Mono" pitchFamily="34" charset="-120"/>
              </a:rPr>
              <a:t>LLM</a:t>
            </a:r>
            <a:endParaRPr lang="en-US" sz="1200" dirty="0"/>
          </a:p>
        </p:txBody>
      </p:sp>
      <p:sp>
        <p:nvSpPr>
          <p:cNvPr id="26" name="Text 20"/>
          <p:cNvSpPr/>
          <p:nvPr/>
        </p:nvSpPr>
        <p:spPr>
          <a:xfrm>
            <a:off x="968756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8F2"/>
                </a:solidFill>
                <a:latin typeface="IBM Plex Sans" pitchFamily="34" charset="0"/>
                <a:ea typeface="IBM Plex Sans" pitchFamily="34" charset="-122"/>
                <a:cs typeface="IBM Plex Sans" pitchFamily="34" charset="-120"/>
              </a:rPr>
              <a:t>Outputs</a:t>
            </a:r>
            <a:endParaRPr lang="en-US" sz="1600" dirty="0"/>
          </a:p>
        </p:txBody>
      </p:sp>
      <p:sp>
        <p:nvSpPr>
          <p:cNvPr id="27" name="Text 21"/>
          <p:cNvSpPr/>
          <p:nvPr/>
        </p:nvSpPr>
        <p:spPr>
          <a:xfrm>
            <a:off x="968756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IBM Plex Sans" pitchFamily="34" charset="0"/>
                <a:ea typeface="IBM Plex Sans" pitchFamily="34" charset="-122"/>
                <a:cs typeface="IBM Plex Sans" pitchFamily="34" charset="-120"/>
              </a:rPr>
              <a:t>Slack, Email, Standup for developers and clients</a:t>
            </a:r>
            <a:endParaRPr lang="en-US" sz="1200" dirty="0"/>
          </a:p>
        </p:txBody>
      </p:sp>
      <p:sp>
        <p:nvSpPr>
          <p:cNvPr id="28" name="Text 22"/>
          <p:cNvSpPr/>
          <p:nvPr/>
        </p:nvSpPr>
        <p:spPr>
          <a:xfrm>
            <a:off x="812800" y="394208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The model only sees commits that survive the filter: noise is dropped before any AI runs, and a typical run costs cents.</a:t>
            </a:r>
            <a:endParaRPr lang="en-US" sz="1600" dirty="0"/>
          </a:p>
        </p:txBody>
      </p:sp>
      <p:sp>
        <p:nvSpPr>
          <p:cNvPr id="29" name="Text 23"/>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30" name="Text 2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JetBrains Mono" pitchFamily="34" charset="0"/>
                <a:ea typeface="JetBrains Mono" pitchFamily="34" charset="-122"/>
                <a:cs typeface="JetBrains Mono" pitchFamily="34" charset="-120"/>
              </a:rPr>
              <a:t>## Why it's different</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Not another changelog bot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6240" cy="2184400"/>
        </p:xfrm>
        <a:graphic>
          <a:graphicData uri="http://schemas.openxmlformats.org/drawingml/2006/table">
            <a:tbl>
              <a:tblPr/>
              <a:tblGrid>
                <a:gridCol w="2322373"/>
                <a:gridCol w="3800246"/>
                <a:gridCol w="4433621"/>
              </a:tblGrid>
              <a:tr h="436880">
                <a:tc>
                  <a:txBody>
                    <a:bodyPr/>
                    <a:lstStyle/>
                    <a:p>
                      <a:pPr indent="0" marL="0">
                        <a:lnSpc>
                          <a:spcPts val="2240"/>
                        </a:lnSpc>
                        <a:buNone/>
                      </a:pP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b="1" dirty="0">
                          <a:solidFill>
                            <a:srgbClr val="FF6B9D"/>
                          </a:solidFill>
                          <a:latin typeface="IBM Plex Sans" pitchFamily="34" charset="0"/>
                          <a:ea typeface="IBM Plex Sans" pitchFamily="34" charset="-122"/>
                          <a:cs typeface="IBM Plex Sans" pitchFamily="34" charset="-120"/>
                        </a:rPr>
                        <a:t>− Changelog bots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b="1" dirty="0">
                          <a:solidFill>
                            <a:srgbClr val="A6E22E"/>
                          </a:solidFill>
                          <a:latin typeface="IBM Plex Sans" pitchFamily="34" charset="0"/>
                          <a:ea typeface="IBM Plex Sans" pitchFamily="34" charset="-122"/>
                          <a:cs typeface="IBM Plex Sans" pitchFamily="34" charset="-120"/>
                        </a:rPr>
                        <a:t>+ Standup Sync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r h="436880">
                <a:tc>
                  <a:txBody>
                    <a:bodyPr/>
                    <a:lstStyle/>
                    <a:p>
                      <a:pPr indent="0" marL="0">
                        <a:lnSpc>
                          <a:spcPts val="2240"/>
                        </a:lnSpc>
                        <a:buNone/>
                      </a:pPr>
                      <a:r>
                        <a:rPr lang="en-US" sz="1600" dirty="0">
                          <a:solidFill>
                            <a:srgbClr val="F8F8F2"/>
                          </a:solidFill>
                          <a:latin typeface="IBM Plex Sans" pitchFamily="34" charset="0"/>
                          <a:ea typeface="IBM Plex Sans" pitchFamily="34" charset="-122"/>
                          <a:cs typeface="IBM Plex Sans" pitchFamily="34" charset="-120"/>
                        </a:rPr>
                        <a:t>Reads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Commit messages as written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The actual diffs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F8F8F2"/>
                          </a:solidFill>
                          <a:latin typeface="IBM Plex Sans" pitchFamily="34" charset="0"/>
                          <a:ea typeface="IBM Plex Sans" pitchFamily="34" charset="-122"/>
                          <a:cs typeface="IBM Plex Sans" pitchFamily="34" charset="-120"/>
                        </a:rPr>
                        <a:t>Reports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Every commit, reverts included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Major accomplishments only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r h="436880">
                <a:tc>
                  <a:txBody>
                    <a:bodyPr/>
                    <a:lstStyle/>
                    <a:p>
                      <a:pPr indent="0" marL="0">
                        <a:lnSpc>
                          <a:spcPts val="2240"/>
                        </a:lnSpc>
                        <a:buNone/>
                      </a:pPr>
                      <a:r>
                        <a:rPr lang="en-US" sz="1600" dirty="0">
                          <a:solidFill>
                            <a:srgbClr val="F8F8F2"/>
                          </a:solidFill>
                          <a:latin typeface="IBM Plex Sans" pitchFamily="34" charset="0"/>
                          <a:ea typeface="IBM Plex Sans" pitchFamily="34" charset="-122"/>
                          <a:cs typeface="IBM Plex Sans" pitchFamily="34" charset="-120"/>
                        </a:rPr>
                        <a:t>Branches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Usually the default branch</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Every branch, unmerged work too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F8F8F2"/>
                          </a:solidFill>
                          <a:latin typeface="IBM Plex Sans" pitchFamily="34" charset="0"/>
                          <a:ea typeface="IBM Plex Sans" pitchFamily="34" charset="-122"/>
                          <a:cs typeface="IBM Plex Sans" pitchFamily="34" charset="-120"/>
                        </a:rPr>
                        <a:t>Writes for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One technical format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Developers or clients, 3 formats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bl>
          </a:graphicData>
        </a:graphic>
      </p:graphicFrame>
      <p:sp>
        <p:nvSpPr>
          <p:cNvPr id="5" name="Text 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JetBrains Mono" pitchFamily="34" charset="0"/>
                <a:ea typeface="JetBrains Mono" pitchFamily="34" charset="-122"/>
                <a:cs typeface="JetBrains Mono" pitchFamily="34" charset="-120"/>
              </a:rPr>
              <a:t>## Built with IBM Bob</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Three Bob sessions, one working app</a:t>
            </a:r>
            <a:endParaRPr lang="en-US" sz="3600" dirty="0"/>
          </a:p>
        </p:txBody>
      </p:sp>
      <p:sp>
        <p:nvSpPr>
          <p:cNvPr id="4" name="Shape 2"/>
          <p:cNvSpPr/>
          <p:nvPr/>
        </p:nvSpPr>
        <p:spPr>
          <a:xfrm>
            <a:off x="819150" y="1891032"/>
            <a:ext cx="3373914" cy="1643380"/>
          </a:xfrm>
          <a:prstGeom prst="roundRect">
            <a:avLst>
              <a:gd name="adj" fmla="val 4250"/>
            </a:avLst>
          </a:prstGeom>
          <a:solidFill>
            <a:srgbClr val="272822"/>
          </a:solidFill>
          <a:ln w="12700">
            <a:solidFill>
              <a:srgbClr val="3E3D32"/>
            </a:solidFill>
            <a:prstDash val="solid"/>
          </a:ln>
        </p:spPr>
      </p:sp>
      <p:sp>
        <p:nvSpPr>
          <p:cNvPr id="5" name="Text 3"/>
          <p:cNvSpPr/>
          <p:nvPr/>
        </p:nvSpPr>
        <p:spPr>
          <a:xfrm>
            <a:off x="1026160" y="2098039"/>
            <a:ext cx="30486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JetBrains Mono" pitchFamily="34" charset="0"/>
                <a:ea typeface="JetBrains Mono" pitchFamily="34" charset="-122"/>
                <a:cs typeface="JetBrains Mono" pitchFamily="34" charset="-120"/>
              </a:rPr>
              <a:t>1 · Build the pipeline</a:t>
            </a:r>
            <a:endParaRPr lang="en-US" sz="1600" dirty="0"/>
          </a:p>
        </p:txBody>
      </p:sp>
      <p:sp>
        <p:nvSpPr>
          <p:cNvPr id="6" name="Text 4"/>
          <p:cNvSpPr/>
          <p:nvPr/>
        </p:nvSpPr>
        <p:spPr>
          <a:xfrm>
            <a:off x="1026160" y="2443482"/>
            <a:ext cx="3048691"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IBM Plex Sans" pitchFamily="34" charset="0"/>
                <a:ea typeface="IBM Plex Sans" pitchFamily="34" charset="-122"/>
                <a:cs typeface="IBM Plex Sans" pitchFamily="34" charset="-120"/>
              </a:rPr>
              <a:t>Planned from our AGENTS.md and plan/ docs, set up watsonx.ai using IBM docs search, scaffolded the full pipeline and streaming UI.</a:t>
            </a:r>
            <a:endParaRPr lang="en-US" sz="1200" dirty="0"/>
          </a:p>
        </p:txBody>
      </p:sp>
      <p:sp>
        <p:nvSpPr>
          <p:cNvPr id="7" name="Shape 5"/>
          <p:cNvSpPr/>
          <p:nvPr/>
        </p:nvSpPr>
        <p:spPr>
          <a:xfrm>
            <a:off x="4408964" y="1891032"/>
            <a:ext cx="3373993" cy="1643380"/>
          </a:xfrm>
          <a:prstGeom prst="roundRect">
            <a:avLst>
              <a:gd name="adj" fmla="val 4250"/>
            </a:avLst>
          </a:prstGeom>
          <a:solidFill>
            <a:srgbClr val="272822"/>
          </a:solidFill>
          <a:ln w="12700">
            <a:solidFill>
              <a:srgbClr val="3E3D32"/>
            </a:solidFill>
            <a:prstDash val="solid"/>
          </a:ln>
        </p:spPr>
      </p:sp>
      <p:sp>
        <p:nvSpPr>
          <p:cNvPr id="8" name="Text 6"/>
          <p:cNvSpPr/>
          <p:nvPr/>
        </p:nvSpPr>
        <p:spPr>
          <a:xfrm>
            <a:off x="4615974" y="2098039"/>
            <a:ext cx="30487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JetBrains Mono" pitchFamily="34" charset="0"/>
                <a:ea typeface="JetBrains Mono" pitchFamily="34" charset="-122"/>
                <a:cs typeface="JetBrains Mono" pitchFamily="34" charset="-120"/>
              </a:rPr>
              <a:t>2 · Cost and speed</a:t>
            </a:r>
            <a:endParaRPr lang="en-US" sz="1600" dirty="0"/>
          </a:p>
        </p:txBody>
      </p:sp>
      <p:sp>
        <p:nvSpPr>
          <p:cNvPr id="9" name="Text 7"/>
          <p:cNvSpPr/>
          <p:nvPr/>
        </p:nvSpPr>
        <p:spPr>
          <a:xfrm>
            <a:off x="4615974" y="2443482"/>
            <a:ext cx="304877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IBM Plex Sans" pitchFamily="34" charset="0"/>
                <a:ea typeface="IBM Plex Sans" pitchFamily="34" charset="-122"/>
                <a:cs typeface="IBM Plex Sans" pitchFamily="34" charset="-120"/>
              </a:rPr>
              <a:t>Explained LLM calls and cost, switched to blobless clones, and sent whole diffs to the model.</a:t>
            </a:r>
            <a:endParaRPr lang="en-US" sz="1200" dirty="0"/>
          </a:p>
        </p:txBody>
      </p:sp>
      <p:sp>
        <p:nvSpPr>
          <p:cNvPr id="10" name="Shape 8"/>
          <p:cNvSpPr/>
          <p:nvPr/>
        </p:nvSpPr>
        <p:spPr>
          <a:xfrm>
            <a:off x="7998857" y="1891032"/>
            <a:ext cx="3373993" cy="1643380"/>
          </a:xfrm>
          <a:prstGeom prst="roundRect">
            <a:avLst>
              <a:gd name="adj" fmla="val 4250"/>
            </a:avLst>
          </a:prstGeom>
          <a:solidFill>
            <a:srgbClr val="272822"/>
          </a:solidFill>
          <a:ln w="12700">
            <a:solidFill>
              <a:srgbClr val="3E3D32"/>
            </a:solidFill>
            <a:prstDash val="solid"/>
          </a:ln>
        </p:spPr>
      </p:sp>
      <p:sp>
        <p:nvSpPr>
          <p:cNvPr id="11" name="Text 9"/>
          <p:cNvSpPr/>
          <p:nvPr/>
        </p:nvSpPr>
        <p:spPr>
          <a:xfrm>
            <a:off x="8205867" y="2098039"/>
            <a:ext cx="30487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JetBrains Mono" pitchFamily="34" charset="0"/>
                <a:ea typeface="JetBrains Mono" pitchFamily="34" charset="-122"/>
                <a:cs typeface="JetBrains Mono" pitchFamily="34" charset="-120"/>
              </a:rPr>
              <a:t>3 · Features and UI</a:t>
            </a:r>
            <a:endParaRPr lang="en-US" sz="1600" dirty="0"/>
          </a:p>
        </p:txBody>
      </p:sp>
      <p:sp>
        <p:nvSpPr>
          <p:cNvPr id="12" name="Text 10"/>
          <p:cNvSpPr/>
          <p:nvPr/>
        </p:nvSpPr>
        <p:spPr>
          <a:xfrm>
            <a:off x="8205867" y="2443482"/>
            <a:ext cx="304877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IBM Plex Sans" pitchFamily="34" charset="0"/>
                <a:ea typeface="IBM Plex Sans" pitchFamily="34" charset="-122"/>
                <a:cs typeface="IBM Plex Sans" pitchFamily="34" charset="-120"/>
              </a:rPr>
              <a:t>Explore subagent and planning skill, then Agent mode: developer stats, client tone, private repos, date presets.</a:t>
            </a:r>
            <a:endParaRPr lang="en-US" sz="1200" dirty="0"/>
          </a:p>
        </p:txBody>
      </p:sp>
      <p:sp>
        <p:nvSpPr>
          <p:cNvPr id="13" name="Shape 11"/>
          <p:cNvSpPr/>
          <p:nvPr/>
        </p:nvSpPr>
        <p:spPr>
          <a:xfrm>
            <a:off x="812800" y="3794761"/>
            <a:ext cx="2265680" cy="314960"/>
          </a:xfrm>
          <a:prstGeom prst="roundRect">
            <a:avLst>
              <a:gd name="adj" fmla="val 50000"/>
            </a:avLst>
          </a:prstGeom>
          <a:solidFill>
            <a:srgbClr val="66D9EF"/>
          </a:solidFill>
          <a:ln/>
        </p:spPr>
      </p:sp>
      <p:sp>
        <p:nvSpPr>
          <p:cNvPr id="14" name="Text 12"/>
          <p:cNvSpPr/>
          <p:nvPr/>
        </p:nvSpPr>
        <p:spPr>
          <a:xfrm>
            <a:off x="939800" y="3845561"/>
            <a:ext cx="2072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JetBrains Mono" pitchFamily="34" charset="0"/>
                <a:ea typeface="JetBrains Mono" pitchFamily="34" charset="-122"/>
                <a:cs typeface="JetBrains Mono" pitchFamily="34" charset="-120"/>
              </a:rPr>
              <a:t>Document understanding</a:t>
            </a:r>
            <a:endParaRPr lang="en-US" sz="1200" dirty="0"/>
          </a:p>
        </p:txBody>
      </p:sp>
      <p:sp>
        <p:nvSpPr>
          <p:cNvPr id="15" name="Shape 13"/>
          <p:cNvSpPr/>
          <p:nvPr/>
        </p:nvSpPr>
        <p:spPr>
          <a:xfrm>
            <a:off x="3180080" y="3794761"/>
            <a:ext cx="1625600" cy="314960"/>
          </a:xfrm>
          <a:prstGeom prst="roundRect">
            <a:avLst>
              <a:gd name="adj" fmla="val 50000"/>
            </a:avLst>
          </a:prstGeom>
          <a:solidFill>
            <a:srgbClr val="66D9EF"/>
          </a:solidFill>
          <a:ln/>
        </p:spPr>
      </p:sp>
      <p:sp>
        <p:nvSpPr>
          <p:cNvPr id="16" name="Text 14"/>
          <p:cNvSpPr/>
          <p:nvPr/>
        </p:nvSpPr>
        <p:spPr>
          <a:xfrm>
            <a:off x="3307080" y="3845561"/>
            <a:ext cx="142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JetBrains Mono" pitchFamily="34" charset="0"/>
                <a:ea typeface="JetBrains Mono" pitchFamily="34" charset="-122"/>
                <a:cs typeface="JetBrains Mono" pitchFamily="34" charset="-120"/>
              </a:rPr>
              <a:t>IBM docs search</a:t>
            </a:r>
            <a:endParaRPr lang="en-US" sz="1200" dirty="0"/>
          </a:p>
        </p:txBody>
      </p:sp>
      <p:sp>
        <p:nvSpPr>
          <p:cNvPr id="17" name="Shape 15"/>
          <p:cNvSpPr/>
          <p:nvPr/>
        </p:nvSpPr>
        <p:spPr>
          <a:xfrm>
            <a:off x="4907280" y="3794761"/>
            <a:ext cx="1534160" cy="314960"/>
          </a:xfrm>
          <a:prstGeom prst="roundRect">
            <a:avLst>
              <a:gd name="adj" fmla="val 50000"/>
            </a:avLst>
          </a:prstGeom>
          <a:solidFill>
            <a:srgbClr val="66D9EF"/>
          </a:solidFill>
          <a:ln/>
        </p:spPr>
      </p:sp>
      <p:sp>
        <p:nvSpPr>
          <p:cNvPr id="18" name="Text 16"/>
          <p:cNvSpPr/>
          <p:nvPr/>
        </p:nvSpPr>
        <p:spPr>
          <a:xfrm>
            <a:off x="5034280" y="3845561"/>
            <a:ext cx="1330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JetBrains Mono" pitchFamily="34" charset="0"/>
                <a:ea typeface="JetBrains Mono" pitchFamily="34" charset="-122"/>
                <a:cs typeface="JetBrains Mono" pitchFamily="34" charset="-120"/>
              </a:rPr>
              <a:t>Planning skill</a:t>
            </a:r>
            <a:endParaRPr lang="en-US" sz="1200" dirty="0"/>
          </a:p>
        </p:txBody>
      </p:sp>
      <p:sp>
        <p:nvSpPr>
          <p:cNvPr id="19" name="Shape 17"/>
          <p:cNvSpPr/>
          <p:nvPr/>
        </p:nvSpPr>
        <p:spPr>
          <a:xfrm>
            <a:off x="6543040" y="3794761"/>
            <a:ext cx="1717040" cy="314960"/>
          </a:xfrm>
          <a:prstGeom prst="roundRect">
            <a:avLst>
              <a:gd name="adj" fmla="val 50000"/>
            </a:avLst>
          </a:prstGeom>
          <a:solidFill>
            <a:srgbClr val="66D9EF"/>
          </a:solidFill>
          <a:ln/>
        </p:spPr>
      </p:sp>
      <p:sp>
        <p:nvSpPr>
          <p:cNvPr id="20" name="Text 18"/>
          <p:cNvSpPr/>
          <p:nvPr/>
        </p:nvSpPr>
        <p:spPr>
          <a:xfrm>
            <a:off x="6670040" y="3845561"/>
            <a:ext cx="1513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JetBrains Mono" pitchFamily="34" charset="0"/>
                <a:ea typeface="JetBrains Mono" pitchFamily="34" charset="-122"/>
                <a:cs typeface="JetBrains Mono" pitchFamily="34" charset="-120"/>
              </a:rPr>
              <a:t>Explore subagent</a:t>
            </a:r>
            <a:endParaRPr lang="en-US" sz="1200" dirty="0"/>
          </a:p>
        </p:txBody>
      </p:sp>
      <p:sp>
        <p:nvSpPr>
          <p:cNvPr id="21" name="Shape 19"/>
          <p:cNvSpPr/>
          <p:nvPr/>
        </p:nvSpPr>
        <p:spPr>
          <a:xfrm>
            <a:off x="8361680" y="3794761"/>
            <a:ext cx="1168400" cy="314960"/>
          </a:xfrm>
          <a:prstGeom prst="roundRect">
            <a:avLst>
              <a:gd name="adj" fmla="val 50000"/>
            </a:avLst>
          </a:prstGeom>
          <a:solidFill>
            <a:srgbClr val="66D9EF"/>
          </a:solidFill>
          <a:ln/>
        </p:spPr>
      </p:sp>
      <p:sp>
        <p:nvSpPr>
          <p:cNvPr id="22" name="Text 20"/>
          <p:cNvSpPr/>
          <p:nvPr/>
        </p:nvSpPr>
        <p:spPr>
          <a:xfrm>
            <a:off x="8488680" y="3845561"/>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JetBrains Mono" pitchFamily="34" charset="0"/>
                <a:ea typeface="JetBrains Mono" pitchFamily="34" charset="-122"/>
                <a:cs typeface="JetBrains Mono" pitchFamily="34" charset="-120"/>
              </a:rPr>
              <a:t>Agent mode</a:t>
            </a:r>
            <a:endParaRPr lang="en-US" sz="1200" dirty="0"/>
          </a:p>
        </p:txBody>
      </p:sp>
      <p:sp>
        <p:nvSpPr>
          <p:cNvPr id="23" name="Text 21"/>
          <p:cNvSpPr/>
          <p:nvPr/>
        </p:nvSpPr>
        <p:spPr>
          <a:xfrm>
            <a:off x="812800" y="43637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IBM Plex Sans" pitchFamily="34" charset="0"/>
                <a:ea typeface="IBM Plex Sans" pitchFamily="34" charset="-122"/>
                <a:cs typeface="IBM Plex Sans" pitchFamily="34" charset="-120"/>
              </a:rPr>
              <a:t>Sept 26 · session exports in bob_sessions/ · from Sept 27, testing, filtering and the UI redesign continued with Claude Code</a:t>
            </a:r>
            <a:endParaRPr lang="en-US" sz="1200" dirty="0"/>
          </a:p>
        </p:txBody>
      </p:sp>
      <p:sp>
        <p:nvSpPr>
          <p:cNvPr id="24" name="Text 2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25" name="Text 2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JetBrains Mono" pitchFamily="34" charset="0"/>
                <a:ea typeface="JetBrains Mono" pitchFamily="34" charset="-122"/>
                <a:cs typeface="JetBrains Mono" pitchFamily="34" charset="-120"/>
              </a:rPr>
              <a:t>## Built to hold up</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JetBrains Mono" pitchFamily="34" charset="0"/>
                <a:ea typeface="JetBrains Mono" pitchFamily="34" charset="-122"/>
                <a:cs typeface="JetBrains Mono" pitchFamily="34" charset="-120"/>
              </a:rPr>
              <a:t>Tested on real repositories</a:t>
            </a:r>
            <a:endParaRPr lang="en-US" sz="3600" dirty="0"/>
          </a:p>
        </p:txBody>
      </p:sp>
      <p:sp>
        <p:nvSpPr>
          <p:cNvPr id="4" name="Shape 2"/>
          <p:cNvSpPr/>
          <p:nvPr/>
        </p:nvSpPr>
        <p:spPr>
          <a:xfrm>
            <a:off x="819150" y="1992629"/>
            <a:ext cx="3373914" cy="2085340"/>
          </a:xfrm>
          <a:prstGeom prst="roundRect">
            <a:avLst>
              <a:gd name="adj" fmla="val 3350"/>
            </a:avLst>
          </a:prstGeom>
          <a:solidFill>
            <a:srgbClr val="1E1F1C"/>
          </a:solidFill>
          <a:ln w="12700">
            <a:solidFill>
              <a:srgbClr val="3E3D32"/>
            </a:solidFill>
            <a:prstDash val="solid"/>
          </a:ln>
        </p:spPr>
      </p:sp>
      <p:sp>
        <p:nvSpPr>
          <p:cNvPr id="5" name="Text 3"/>
          <p:cNvSpPr/>
          <p:nvPr/>
        </p:nvSpPr>
        <p:spPr>
          <a:xfrm>
            <a:off x="1076960" y="2250442"/>
            <a:ext cx="294404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A6E22E"/>
                </a:solidFill>
                <a:latin typeface="JetBrains Mono" pitchFamily="34" charset="0"/>
                <a:ea typeface="JetBrains Mono" pitchFamily="34" charset="-122"/>
                <a:cs typeface="JetBrains Mono" pitchFamily="34" charset="-120"/>
              </a:rPr>
              <a:t>102</a:t>
            </a:r>
            <a:endParaRPr lang="en-US" sz="3600" dirty="0"/>
          </a:p>
        </p:txBody>
      </p:sp>
      <p:sp>
        <p:nvSpPr>
          <p:cNvPr id="6" name="Text 4"/>
          <p:cNvSpPr/>
          <p:nvPr/>
        </p:nvSpPr>
        <p:spPr>
          <a:xfrm>
            <a:off x="1076960" y="2966721"/>
            <a:ext cx="29440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automated tests, offline and against real public repos</a:t>
            </a:r>
            <a:endParaRPr lang="en-US" sz="1600" dirty="0"/>
          </a:p>
        </p:txBody>
      </p:sp>
      <p:sp>
        <p:nvSpPr>
          <p:cNvPr id="7" name="Shape 5"/>
          <p:cNvSpPr/>
          <p:nvPr/>
        </p:nvSpPr>
        <p:spPr>
          <a:xfrm>
            <a:off x="4408964" y="1992629"/>
            <a:ext cx="3373993" cy="2085340"/>
          </a:xfrm>
          <a:prstGeom prst="roundRect">
            <a:avLst>
              <a:gd name="adj" fmla="val 3350"/>
            </a:avLst>
          </a:prstGeom>
          <a:solidFill>
            <a:srgbClr val="1E1F1C"/>
          </a:solidFill>
          <a:ln w="12700">
            <a:solidFill>
              <a:srgbClr val="3E3D32"/>
            </a:solidFill>
            <a:prstDash val="solid"/>
          </a:ln>
        </p:spPr>
      </p:sp>
      <p:sp>
        <p:nvSpPr>
          <p:cNvPr id="8" name="Text 6"/>
          <p:cNvSpPr/>
          <p:nvPr/>
        </p:nvSpPr>
        <p:spPr>
          <a:xfrm>
            <a:off x="4666774" y="2250442"/>
            <a:ext cx="294412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6DB74"/>
                </a:solidFill>
                <a:latin typeface="JetBrains Mono" pitchFamily="34" charset="0"/>
                <a:ea typeface="JetBrains Mono" pitchFamily="34" charset="-122"/>
                <a:cs typeface="JetBrains Mono" pitchFamily="34" charset="-120"/>
              </a:rPr>
              <a:t>8</a:t>
            </a:r>
            <a:endParaRPr lang="en-US" sz="3600" dirty="0"/>
          </a:p>
        </p:txBody>
      </p:sp>
      <p:sp>
        <p:nvSpPr>
          <p:cNvPr id="9" name="Text 7"/>
          <p:cNvSpPr/>
          <p:nvPr/>
        </p:nvSpPr>
        <p:spPr>
          <a:xfrm>
            <a:off x="4666774" y="2966721"/>
            <a:ext cx="294412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bugs found and fixed, from date ranges to truncated summaries</a:t>
            </a:r>
            <a:endParaRPr lang="en-US" sz="1600" dirty="0"/>
          </a:p>
        </p:txBody>
      </p:sp>
      <p:sp>
        <p:nvSpPr>
          <p:cNvPr id="10" name="Shape 8"/>
          <p:cNvSpPr/>
          <p:nvPr/>
        </p:nvSpPr>
        <p:spPr>
          <a:xfrm>
            <a:off x="7998857" y="1992629"/>
            <a:ext cx="3373993" cy="2085340"/>
          </a:xfrm>
          <a:prstGeom prst="roundRect">
            <a:avLst>
              <a:gd name="adj" fmla="val 3350"/>
            </a:avLst>
          </a:prstGeom>
          <a:solidFill>
            <a:srgbClr val="1E1F1C"/>
          </a:solidFill>
          <a:ln w="12700">
            <a:solidFill>
              <a:srgbClr val="3E3D32"/>
            </a:solidFill>
            <a:prstDash val="solid"/>
          </a:ln>
        </p:spPr>
      </p:sp>
      <p:sp>
        <p:nvSpPr>
          <p:cNvPr id="11" name="Text 9"/>
          <p:cNvSpPr/>
          <p:nvPr/>
        </p:nvSpPr>
        <p:spPr>
          <a:xfrm>
            <a:off x="8256667" y="2250442"/>
            <a:ext cx="294412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6D9EF"/>
                </a:solidFill>
                <a:latin typeface="JetBrains Mono" pitchFamily="34" charset="0"/>
                <a:ea typeface="JetBrains Mono" pitchFamily="34" charset="-122"/>
                <a:cs typeface="JetBrains Mono" pitchFamily="34" charset="-120"/>
              </a:rPr>
              <a:t>5.6×</a:t>
            </a:r>
            <a:endParaRPr lang="en-US" sz="3600" dirty="0"/>
          </a:p>
        </p:txBody>
      </p:sp>
      <p:sp>
        <p:nvSpPr>
          <p:cNvPr id="12" name="Text 10"/>
          <p:cNvSpPr/>
          <p:nvPr/>
        </p:nvSpPr>
        <p:spPr>
          <a:xfrm>
            <a:off x="8256667" y="2966721"/>
            <a:ext cx="29441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faster on microsoft/vscode: 807 s down to 143 s</a:t>
            </a:r>
            <a:endParaRPr lang="en-US" sz="1600" dirty="0"/>
          </a:p>
        </p:txBody>
      </p:sp>
      <p:sp>
        <p:nvSpPr>
          <p:cNvPr id="13" name="Text 11"/>
          <p:cNvSpPr/>
          <p:nvPr/>
        </p:nvSpPr>
        <p:spPr>
          <a:xfrm>
            <a:off x="812800" y="44399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IBM Plex Sans" pitchFamily="34" charset="0"/>
                <a:ea typeface="IBM Plex Sans" pitchFamily="34" charset="-122"/>
                <a:cs typeface="IBM Plex Sans" pitchFamily="34" charset="-120"/>
              </a:rPr>
              <a:t>Tokens are never stored. Local paths are blocked on the public server. Dates follow the visitor's time zone.</a:t>
            </a:r>
            <a:endParaRPr lang="en-US" sz="1600" dirty="0"/>
          </a:p>
        </p:txBody>
      </p:sp>
      <p:sp>
        <p:nvSpPr>
          <p:cNvPr id="14" name="Text 1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Standup Sync · IBM Bob 2.0 Hackathon</a:t>
            </a:r>
            <a:endParaRPr lang="en-US" sz="1200" dirty="0"/>
          </a:p>
        </p:txBody>
      </p:sp>
      <p:sp>
        <p:nvSpPr>
          <p:cNvPr id="15" name="Text 1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JetBrains Mono" pitchFamily="34" charset="0"/>
                <a:ea typeface="JetBrains Mono" pitchFamily="34" charset="-122"/>
                <a:cs typeface="JetBrains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267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92672"/>
              </a:gs>
              <a:gs pos="100000">
                <a:srgbClr val="FD971F"/>
              </a:gs>
            </a:gsLst>
            <a:lin ang="2700000" scaled="0"/>
          </a:gradFill>
          <a:ln/>
        </p:spPr>
      </p:sp>
      <p:sp>
        <p:nvSpPr>
          <p:cNvPr id="3" name="Text 1"/>
          <p:cNvSpPr/>
          <p:nvPr/>
        </p:nvSpPr>
        <p:spPr>
          <a:xfrm>
            <a:off x="812800" y="19888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B17"/>
                </a:solidFill>
                <a:latin typeface="JetBrains Mono" pitchFamily="34" charset="0"/>
                <a:ea typeface="JetBrains Mono" pitchFamily="34" charset="-122"/>
                <a:cs typeface="JetBrains Mono" pitchFamily="34" charset="-120"/>
              </a:rPr>
              <a:t>$ standup-sync --since "7 days ago"</a:t>
            </a:r>
            <a:endParaRPr lang="en-US" sz="1200" dirty="0"/>
          </a:p>
        </p:txBody>
      </p:sp>
      <p:sp>
        <p:nvSpPr>
          <p:cNvPr id="4" name="Text 2"/>
          <p:cNvSpPr/>
          <p:nvPr/>
        </p:nvSpPr>
        <p:spPr>
          <a:xfrm>
            <a:off x="812800" y="2456179"/>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B1B17"/>
                </a:solidFill>
                <a:latin typeface="JetBrains Mono" pitchFamily="34" charset="0"/>
                <a:ea typeface="JetBrains Mono" pitchFamily="34" charset="-122"/>
                <a:cs typeface="JetBrains Mono" pitchFamily="34" charset="-120"/>
              </a:rPr>
              <a:t>Stop rebuilding your week from git log.</a:t>
            </a:r>
            <a:endParaRPr lang="en-US" sz="4400" dirty="0"/>
          </a:p>
        </p:txBody>
      </p:sp>
      <p:sp>
        <p:nvSpPr>
          <p:cNvPr id="5" name="Text 3"/>
          <p:cNvSpPr/>
          <p:nvPr/>
        </p:nvSpPr>
        <p:spPr>
          <a:xfrm>
            <a:off x="812800" y="39395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1B17"/>
                </a:solidFill>
                <a:latin typeface="JetBrains Mono" pitchFamily="34" charset="0"/>
                <a:ea typeface="JetBrains Mono" pitchFamily="34" charset="-122"/>
                <a:cs typeface="JetBrains Mono" pitchFamily="34" charset="-120"/>
              </a:rPr>
              <a:t>standup-sync.onrender.com</a:t>
            </a:r>
            <a:endParaRPr lang="en-US" sz="2200" dirty="0"/>
          </a:p>
        </p:txBody>
      </p:sp>
      <p:sp>
        <p:nvSpPr>
          <p:cNvPr id="6" name="Text 4"/>
          <p:cNvSpPr/>
          <p:nvPr/>
        </p:nvSpPr>
        <p:spPr>
          <a:xfrm>
            <a:off x="812800" y="45847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B17"/>
                </a:solidFill>
                <a:latin typeface="IBM Plex Sans" pitchFamily="34" charset="0"/>
                <a:ea typeface="IBM Plex Sans" pitchFamily="34" charset="-122"/>
                <a:cs typeface="IBM Plex Sans" pitchFamily="34" charset="-120"/>
              </a:rPr>
              <a:t>Code, tests and Bob session exports: github.com/DonCastillo/ibm-hackathon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Standup Sync — Pitch Deck</dc:title>
  <dc:subject>PptxGenJS Presentation</dc:subject>
  <dc:creator>PptxGenJS</dc:creator>
  <cp:lastModifiedBy>PptxGenJS</cp:lastModifiedBy>
  <cp:revision>1</cp:revision>
  <dcterms:created xsi:type="dcterms:W3CDTF">2026-09-27T10:46:47Z</dcterms:created>
  <dcterms:modified xsi:type="dcterms:W3CDTF">2026-09-27T10:46:47Z</dcterms:modified>
</cp:coreProperties>
</file>